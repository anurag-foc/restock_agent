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E20"/>
        </a:solidFill>
      </p:bgPr>
    </p:bg>
    <p:spTree>
      <p:nvGrpSpPr>
        <p:cNvPr id="1" name=""/>
        <p:cNvGrpSpPr/>
        <p:nvPr/>
      </p:nvGrpSpPr>
      <p:grpSpPr>
        <a:xfrm>
          <a:off x="0" y="0"/>
          <a:ext cx="0" cy="0"/>
          <a:chOff x="0" y="0"/>
          <a:chExt cx="0" cy="0"/>
        </a:xfrm>
      </p:grpSpPr>
      <p:sp>
        <p:nvSpPr>
          <p:cNvPr id="2" name="Shape 0"/>
          <p:cNvSpPr/>
          <p:nvPr/>
        </p:nvSpPr>
        <p:spPr>
          <a:xfrm>
            <a:off x="548640" y="548640"/>
            <a:ext cx="566928" cy="566928"/>
          </a:xfrm>
          <a:prstGeom prst="roundRect">
            <a:avLst>
              <a:gd name="adj" fmla="val 11290"/>
            </a:avLst>
          </a:prstGeom>
          <a:solidFill>
            <a:srgbClr val="2E6580"/>
          </a:solidFill>
          <a:ln/>
        </p:spPr>
      </p:sp>
      <p:pic>
        <p:nvPicPr>
          <p:cNvPr id="3" name="Image 0" descr="/tmp/claude-1000/-home-anurag-r-work-agentbrick-works-restock-agent/2dd0bea3-cfe1-43a1-8644-31ec55874190/scratchpad/deck/assets/industry.png">    </p:cNvPr>
          <p:cNvPicPr>
            <a:picLocks noChangeAspect="1"/>
          </p:cNvPicPr>
          <p:nvPr/>
        </p:nvPicPr>
        <p:blipFill>
          <a:blip r:embed="rId1"/>
          <a:stretch>
            <a:fillRect/>
          </a:stretch>
        </p:blipFill>
        <p:spPr>
          <a:xfrm>
            <a:off x="684703" y="684703"/>
            <a:ext cx="294803" cy="294803"/>
          </a:xfrm>
          <a:prstGeom prst="rect">
            <a:avLst/>
          </a:prstGeom>
        </p:spPr>
      </p:pic>
      <p:sp>
        <p:nvSpPr>
          <p:cNvPr id="4" name="Text 1"/>
          <p:cNvSpPr/>
          <p:nvPr/>
        </p:nvSpPr>
        <p:spPr>
          <a:xfrm>
            <a:off x="548640" y="1783080"/>
            <a:ext cx="9144000" cy="320040"/>
          </a:xfrm>
          <a:prstGeom prst="rect">
            <a:avLst/>
          </a:prstGeom>
          <a:noFill/>
          <a:ln/>
        </p:spPr>
        <p:txBody>
          <a:bodyPr wrap="square" lIns="0" tIns="0" rIns="0" bIns="0" rtlCol="0" anchor="ctr"/>
          <a:lstStyle/>
          <a:p>
            <a:pPr indent="0" marL="0">
              <a:buNone/>
            </a:pPr>
            <a:r>
              <a:rPr lang="en-US" sz="1250" b="1" spc="200" kern="0" dirty="0">
                <a:solidFill>
                  <a:srgbClr val="A7ADA9"/>
                </a:solidFill>
                <a:latin typeface="Calibri" pitchFamily="34" charset="0"/>
                <a:ea typeface="Calibri" pitchFamily="34" charset="-122"/>
                <a:cs typeface="Calibri" pitchFamily="34" charset="-120"/>
              </a:rPr>
              <a:t>MANUFACTURING INVENTORY INTELLIGENCE</a:t>
            </a:r>
            <a:endParaRPr lang="en-US" sz="1250" dirty="0"/>
          </a:p>
        </p:txBody>
      </p:sp>
      <p:sp>
        <p:nvSpPr>
          <p:cNvPr id="5" name="Text 2"/>
          <p:cNvSpPr/>
          <p:nvPr/>
        </p:nvSpPr>
        <p:spPr>
          <a:xfrm>
            <a:off x="548640" y="2148840"/>
            <a:ext cx="10515600" cy="2103120"/>
          </a:xfrm>
          <a:prstGeom prst="rect">
            <a:avLst/>
          </a:prstGeom>
          <a:noFill/>
          <a:ln/>
        </p:spPr>
        <p:txBody>
          <a:bodyPr wrap="square" lIns="0" tIns="0" rIns="0" bIns="0" rtlCol="0" anchor="t"/>
          <a:lstStyle/>
          <a:p>
            <a:pPr indent="0" marL="0">
              <a:lnSpc>
                <a:spcPct val="100000"/>
              </a:lnSpc>
              <a:buNone/>
            </a:pPr>
            <a:r>
              <a:rPr lang="en-US" sz="4800" b="1" dirty="0">
                <a:solidFill>
                  <a:srgbClr val="FFFFFF"/>
                </a:solidFill>
                <a:latin typeface="Arial" pitchFamily="34" charset="0"/>
                <a:ea typeface="Arial" pitchFamily="34" charset="-122"/>
                <a:cs typeface="Arial" pitchFamily="34" charset="-120"/>
              </a:rPr>
              <a:t>IT DOESN'T FLAG</a:t>
            </a:r>
            <a:endParaRPr lang="en-US" sz="4800" dirty="0"/>
          </a:p>
          <a:p>
            <a:pPr indent="0" marL="0">
              <a:lnSpc>
                <a:spcPct val="100000"/>
              </a:lnSpc>
              <a:buNone/>
            </a:pPr>
            <a:r>
              <a:rPr lang="en-US" sz="4800" b="1" dirty="0">
                <a:solidFill>
                  <a:srgbClr val="FFFFFF"/>
                </a:solidFill>
                <a:latin typeface="Arial" pitchFamily="34" charset="0"/>
                <a:ea typeface="Arial" pitchFamily="34" charset="-122"/>
                <a:cs typeface="Arial" pitchFamily="34" charset="-120"/>
              </a:rPr>
              <a:t>PROBLEMS.</a:t>
            </a:r>
            <a:endParaRPr lang="en-US" sz="4800" dirty="0"/>
          </a:p>
          <a:p>
            <a:pPr indent="0" marL="0">
              <a:lnSpc>
                <a:spcPct val="100000"/>
              </a:lnSpc>
              <a:buNone/>
            </a:pPr>
            <a:r>
              <a:rPr lang="en-US" sz="4800" b="1" dirty="0">
                <a:solidFill>
                  <a:srgbClr val="FFFFFF"/>
                </a:solidFill>
                <a:latin typeface="Arial" pitchFamily="34" charset="0"/>
                <a:ea typeface="Arial" pitchFamily="34" charset="-122"/>
                <a:cs typeface="Arial" pitchFamily="34" charset="-120"/>
              </a:rPr>
              <a:t>IT PRICES THEM.</a:t>
            </a:r>
            <a:endParaRPr lang="en-US" sz="4800" dirty="0"/>
          </a:p>
        </p:txBody>
      </p:sp>
      <p:sp>
        <p:nvSpPr>
          <p:cNvPr id="6" name="Text 3"/>
          <p:cNvSpPr/>
          <p:nvPr/>
        </p:nvSpPr>
        <p:spPr>
          <a:xfrm>
            <a:off x="548640" y="4572000"/>
            <a:ext cx="8138160" cy="914400"/>
          </a:xfrm>
          <a:prstGeom prst="rect">
            <a:avLst/>
          </a:prstGeom>
          <a:noFill/>
          <a:ln/>
        </p:spPr>
        <p:txBody>
          <a:bodyPr wrap="square" lIns="0" tIns="0" rIns="0" bIns="0" rtlCol="0" anchor="t"/>
          <a:lstStyle/>
          <a:p>
            <a:pPr indent="0" marL="0">
              <a:lnSpc>
                <a:spcPct val="125000"/>
              </a:lnSpc>
              <a:buNone/>
            </a:pPr>
            <a:r>
              <a:rPr lang="en-US" sz="1600" dirty="0">
                <a:solidFill>
                  <a:srgbClr val="A7ADA9"/>
                </a:solidFill>
                <a:latin typeface="Calibri" pitchFamily="34" charset="0"/>
                <a:ea typeface="Calibri" pitchFamily="34" charset="-122"/>
                <a:cs typeface="Calibri" pitchFamily="34" charset="-120"/>
              </a:rPr>
              <a:t>Every part, every warehouse, twice a day. For the handful that matter: the move to make, the quantity, </a:t>
            </a:r>
            <a:pPr indent="0" marL="0">
              <a:lnSpc>
                <a:spcPct val="125000"/>
              </a:lnSpc>
              <a:buNone/>
            </a:pPr>
            <a:r>
              <a:rPr lang="en-US" sz="1600" dirty="0">
                <a:solidFill>
                  <a:srgbClr val="FFFFFF"/>
                </a:solidFill>
                <a:latin typeface="Calibri" pitchFamily="34" charset="0"/>
                <a:ea typeface="Calibri" pitchFamily="34" charset="-122"/>
                <a:cs typeface="Calibri" pitchFamily="34" charset="-120"/>
              </a:rPr>
              <a:t>what it costs if you act and you're wrong</a:t>
            </a:r>
            <a:pPr indent="0" marL="0">
              <a:lnSpc>
                <a:spcPct val="125000"/>
              </a:lnSpc>
              <a:buNone/>
            </a:pPr>
            <a:r>
              <a:rPr lang="en-US" sz="1600" dirty="0">
                <a:solidFill>
                  <a:srgbClr val="A7ADA9"/>
                </a:solidFill>
                <a:latin typeface="Calibri" pitchFamily="34" charset="0"/>
                <a:ea typeface="Calibri" pitchFamily="34" charset="-122"/>
                <a:cs typeface="Calibri" pitchFamily="34" charset="-120"/>
              </a:rPr>
              <a:t>, and </a:t>
            </a:r>
            <a:pPr indent="0" marL="0">
              <a:lnSpc>
                <a:spcPct val="125000"/>
              </a:lnSpc>
              <a:buNone/>
            </a:pPr>
            <a:r>
              <a:rPr lang="en-US" sz="1600" dirty="0">
                <a:solidFill>
                  <a:srgbClr val="FFFFFF"/>
                </a:solidFill>
                <a:latin typeface="Calibri" pitchFamily="34" charset="0"/>
                <a:ea typeface="Calibri" pitchFamily="34" charset="-122"/>
                <a:cs typeface="Calibri" pitchFamily="34" charset="-120"/>
              </a:rPr>
              <a:t>what it costs if you wait and you're right</a:t>
            </a:r>
            <a:pPr indent="0" marL="0">
              <a:lnSpc>
                <a:spcPct val="125000"/>
              </a:lnSpc>
              <a:buNone/>
            </a:pPr>
            <a:r>
              <a:rPr lang="en-US" sz="1600" dirty="0">
                <a:solidFill>
                  <a:srgbClr val="A7ADA9"/>
                </a:solidFill>
                <a:latin typeface="Calibri" pitchFamily="34" charset="0"/>
                <a:ea typeface="Calibri" pitchFamily="34" charset="-122"/>
                <a:cs typeface="Calibri" pitchFamily="34" charset="-120"/>
              </a:rPr>
              <a:t>.</a:t>
            </a:r>
            <a:endParaRPr lang="en-US" sz="1600" dirty="0"/>
          </a:p>
        </p:txBody>
      </p:sp>
      <p:sp>
        <p:nvSpPr>
          <p:cNvPr id="7" name="Text 4"/>
          <p:cNvSpPr/>
          <p:nvPr/>
        </p:nvSpPr>
        <p:spPr>
          <a:xfrm>
            <a:off x="548640" y="5532120"/>
            <a:ext cx="2011680" cy="457200"/>
          </a:xfrm>
          <a:prstGeom prst="rect">
            <a:avLst/>
          </a:prstGeom>
          <a:noFill/>
          <a:ln/>
        </p:spPr>
        <p:txBody>
          <a:bodyPr wrap="square" lIns="0" tIns="0" rIns="0" bIns="0" rtlCol="0" anchor="t"/>
          <a:lstStyle/>
          <a:p>
            <a:pPr indent="0" marL="0">
              <a:buNone/>
            </a:pPr>
            <a:r>
              <a:rPr lang="en-US" sz="2800" b="1" dirty="0">
                <a:solidFill>
                  <a:srgbClr val="E3B94F"/>
                </a:solidFill>
                <a:latin typeface="Arial" pitchFamily="34" charset="0"/>
                <a:ea typeface="Arial" pitchFamily="34" charset="-122"/>
                <a:cs typeface="Arial" pitchFamily="34" charset="-120"/>
              </a:rPr>
              <a:t>7</a:t>
            </a:r>
            <a:endParaRPr lang="en-US" sz="2800" dirty="0"/>
          </a:p>
        </p:txBody>
      </p:sp>
      <p:sp>
        <p:nvSpPr>
          <p:cNvPr id="8" name="Text 5"/>
          <p:cNvSpPr/>
          <p:nvPr/>
        </p:nvSpPr>
        <p:spPr>
          <a:xfrm>
            <a:off x="548640" y="5989320"/>
            <a:ext cx="2468880" cy="256032"/>
          </a:xfrm>
          <a:prstGeom prst="rect">
            <a:avLst/>
          </a:prstGeom>
          <a:noFill/>
          <a:ln/>
        </p:spPr>
        <p:txBody>
          <a:bodyPr wrap="square" lIns="0" tIns="0" rIns="0" bIns="0" rtlCol="0" anchor="t"/>
          <a:lstStyle/>
          <a:p>
            <a:pPr indent="0" marL="0">
              <a:buNone/>
            </a:pPr>
            <a:r>
              <a:rPr lang="en-US" sz="950" b="1" spc="120" kern="0" dirty="0">
                <a:solidFill>
                  <a:srgbClr val="A7ADA9"/>
                </a:solidFill>
                <a:latin typeface="Calibri" pitchFamily="34" charset="0"/>
                <a:ea typeface="Calibri" pitchFamily="34" charset="-122"/>
                <a:cs typeface="Calibri" pitchFamily="34" charset="-120"/>
              </a:rPr>
              <a:t>NUANCES WEIGHED</a:t>
            </a:r>
            <a:endParaRPr lang="en-US" sz="950" dirty="0"/>
          </a:p>
        </p:txBody>
      </p:sp>
      <p:sp>
        <p:nvSpPr>
          <p:cNvPr id="9" name="Text 6"/>
          <p:cNvSpPr/>
          <p:nvPr/>
        </p:nvSpPr>
        <p:spPr>
          <a:xfrm>
            <a:off x="3200400" y="5532120"/>
            <a:ext cx="2011680" cy="457200"/>
          </a:xfrm>
          <a:prstGeom prst="rect">
            <a:avLst/>
          </a:prstGeom>
          <a:noFill/>
          <a:ln/>
        </p:spPr>
        <p:txBody>
          <a:bodyPr wrap="square" lIns="0" tIns="0" rIns="0" bIns="0" rtlCol="0" anchor="t"/>
          <a:lstStyle/>
          <a:p>
            <a:pPr indent="0" marL="0">
              <a:buNone/>
            </a:pPr>
            <a:r>
              <a:rPr lang="en-US" sz="2800" b="1" dirty="0">
                <a:solidFill>
                  <a:srgbClr val="E3B94F"/>
                </a:solidFill>
                <a:latin typeface="Arial" pitchFamily="34" charset="0"/>
                <a:ea typeface="Arial" pitchFamily="34" charset="-122"/>
                <a:cs typeface="Arial" pitchFamily="34" charset="-120"/>
              </a:rPr>
              <a:t>2×</a:t>
            </a:r>
            <a:endParaRPr lang="en-US" sz="2800" dirty="0"/>
          </a:p>
        </p:txBody>
      </p:sp>
      <p:sp>
        <p:nvSpPr>
          <p:cNvPr id="10" name="Text 7"/>
          <p:cNvSpPr/>
          <p:nvPr/>
        </p:nvSpPr>
        <p:spPr>
          <a:xfrm>
            <a:off x="3200400" y="5989320"/>
            <a:ext cx="2468880" cy="256032"/>
          </a:xfrm>
          <a:prstGeom prst="rect">
            <a:avLst/>
          </a:prstGeom>
          <a:noFill/>
          <a:ln/>
        </p:spPr>
        <p:txBody>
          <a:bodyPr wrap="square" lIns="0" tIns="0" rIns="0" bIns="0" rtlCol="0" anchor="t"/>
          <a:lstStyle/>
          <a:p>
            <a:pPr indent="0" marL="0">
              <a:buNone/>
            </a:pPr>
            <a:r>
              <a:rPr lang="en-US" sz="950" b="1" spc="120" kern="0" dirty="0">
                <a:solidFill>
                  <a:srgbClr val="A7ADA9"/>
                </a:solidFill>
                <a:latin typeface="Calibri" pitchFamily="34" charset="0"/>
                <a:ea typeface="Calibri" pitchFamily="34" charset="-122"/>
                <a:cs typeface="Calibri" pitchFamily="34" charset="-120"/>
              </a:rPr>
              <a:t>SCANS A DAY</a:t>
            </a:r>
            <a:endParaRPr lang="en-US" sz="950" dirty="0"/>
          </a:p>
        </p:txBody>
      </p:sp>
      <p:sp>
        <p:nvSpPr>
          <p:cNvPr id="11" name="Text 8"/>
          <p:cNvSpPr/>
          <p:nvPr/>
        </p:nvSpPr>
        <p:spPr>
          <a:xfrm>
            <a:off x="5852160" y="5532120"/>
            <a:ext cx="2011680" cy="457200"/>
          </a:xfrm>
          <a:prstGeom prst="rect">
            <a:avLst/>
          </a:prstGeom>
          <a:noFill/>
          <a:ln/>
        </p:spPr>
        <p:txBody>
          <a:bodyPr wrap="square" lIns="0" tIns="0" rIns="0" bIns="0" rtlCol="0" anchor="t"/>
          <a:lstStyle/>
          <a:p>
            <a:pPr indent="0" marL="0">
              <a:buNone/>
            </a:pPr>
            <a:r>
              <a:rPr lang="en-US" sz="2800" b="1" dirty="0">
                <a:solidFill>
                  <a:srgbClr val="E3B94F"/>
                </a:solidFill>
                <a:latin typeface="Arial" pitchFamily="34" charset="0"/>
                <a:ea typeface="Arial" pitchFamily="34" charset="-122"/>
                <a:cs typeface="Arial" pitchFamily="34" charset="-120"/>
              </a:rPr>
              <a:t>BOTH</a:t>
            </a:r>
            <a:endParaRPr lang="en-US" sz="2800" dirty="0"/>
          </a:p>
        </p:txBody>
      </p:sp>
      <p:sp>
        <p:nvSpPr>
          <p:cNvPr id="12" name="Text 9"/>
          <p:cNvSpPr/>
          <p:nvPr/>
        </p:nvSpPr>
        <p:spPr>
          <a:xfrm>
            <a:off x="5852160" y="5989320"/>
            <a:ext cx="2468880" cy="256032"/>
          </a:xfrm>
          <a:prstGeom prst="rect">
            <a:avLst/>
          </a:prstGeom>
          <a:noFill/>
          <a:ln/>
        </p:spPr>
        <p:txBody>
          <a:bodyPr wrap="square" lIns="0" tIns="0" rIns="0" bIns="0" rtlCol="0" anchor="t"/>
          <a:lstStyle/>
          <a:p>
            <a:pPr indent="0" marL="0">
              <a:buNone/>
            </a:pPr>
            <a:r>
              <a:rPr lang="en-US" sz="950" b="1" spc="120" kern="0" dirty="0">
                <a:solidFill>
                  <a:srgbClr val="A7ADA9"/>
                </a:solidFill>
                <a:latin typeface="Calibri" pitchFamily="34" charset="0"/>
                <a:ea typeface="Calibri" pitchFamily="34" charset="-122"/>
                <a:cs typeface="Calibri" pitchFamily="34" charset="-120"/>
              </a:rPr>
              <a:t>SIDES PRICED</a:t>
            </a:r>
            <a:endParaRPr lang="en-US" sz="950" dirty="0"/>
          </a:p>
        </p:txBody>
      </p:sp>
      <p:sp>
        <p:nvSpPr>
          <p:cNvPr id="13" name="Text 10"/>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A7ADA9"/>
                </a:solidFill>
                <a:latin typeface="Courier New" pitchFamily="34" charset="0"/>
                <a:ea typeface="Courier New" pitchFamily="34" charset="-122"/>
                <a:cs typeface="Courier New" pitchFamily="34" charset="-120"/>
              </a:rPr>
              <a:t>01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530352" cy="530352"/>
          </a:xfrm>
          <a:prstGeom prst="roundRect">
            <a:avLst>
              <a:gd name="adj" fmla="val 12069"/>
            </a:avLst>
          </a:prstGeom>
          <a:solidFill>
            <a:srgbClr val="2E6580"/>
          </a:solidFill>
          <a:ln/>
        </p:spPr>
      </p:sp>
      <p:pic>
        <p:nvPicPr>
          <p:cNvPr id="3" name="Image 0" descr="/tmp/claude-1000/-home-anurag-r-work-agentbrick-works-restock-agent/2dd0bea3-cfe1-43a1-8644-31ec55874190/scratchpad/deck/assets/search.png">    </p:cNvPr>
          <p:cNvPicPr>
            <a:picLocks noChangeAspect="1"/>
          </p:cNvPicPr>
          <p:nvPr/>
        </p:nvPicPr>
        <p:blipFill>
          <a:blip r:embed="rId1"/>
          <a:stretch>
            <a:fillRect/>
          </a:stretch>
        </p:blipFill>
        <p:spPr>
          <a:xfrm>
            <a:off x="675924" y="675924"/>
            <a:ext cx="275783" cy="275783"/>
          </a:xfrm>
          <a:prstGeom prst="rect">
            <a:avLst/>
          </a:prstGeom>
        </p:spPr>
      </p:pic>
      <p:sp>
        <p:nvSpPr>
          <p:cNvPr id="4" name="Text 1"/>
          <p:cNvSpPr/>
          <p:nvPr/>
        </p:nvSpPr>
        <p:spPr>
          <a:xfrm>
            <a:off x="548640" y="1371600"/>
            <a:ext cx="10058400" cy="1554480"/>
          </a:xfrm>
          <a:prstGeom prst="rect">
            <a:avLst/>
          </a:prstGeom>
          <a:noFill/>
          <a:ln/>
        </p:spPr>
        <p:txBody>
          <a:bodyPr wrap="square" lIns="0" tIns="0" rIns="0" bIns="0" rtlCol="0" anchor="t"/>
          <a:lstStyle/>
          <a:p>
            <a:pPr indent="0" marL="0">
              <a:lnSpc>
                <a:spcPct val="105000"/>
              </a:lnSpc>
              <a:buNone/>
            </a:pPr>
            <a:r>
              <a:rPr lang="en-US" sz="3400" b="1" dirty="0">
                <a:solidFill>
                  <a:srgbClr val="1B1E20"/>
                </a:solidFill>
                <a:latin typeface="Arial" pitchFamily="34" charset="0"/>
                <a:ea typeface="Arial" pitchFamily="34" charset="-122"/>
                <a:cs typeface="Arial" pitchFamily="34" charset="-120"/>
              </a:rPr>
              <a:t>A part can sit above its own safety stock</a:t>
            </a:r>
            <a:endParaRPr lang="en-US" sz="3400" dirty="0"/>
          </a:p>
          <a:p>
            <a:pPr indent="0" marL="0">
              <a:lnSpc>
                <a:spcPct val="105000"/>
              </a:lnSpc>
              <a:buNone/>
            </a:pPr>
            <a:r>
              <a:rPr lang="en-US" sz="3400" b="1" dirty="0">
                <a:solidFill>
                  <a:srgbClr val="1B1E20"/>
                </a:solidFill>
                <a:latin typeface="Arial" pitchFamily="34" charset="0"/>
                <a:ea typeface="Arial" pitchFamily="34" charset="-122"/>
                <a:cs typeface="Arial" pitchFamily="34" charset="-120"/>
              </a:rPr>
              <a:t>and still be the problem.</a:t>
            </a:r>
            <a:endParaRPr lang="en-US" sz="3400" dirty="0"/>
          </a:p>
        </p:txBody>
      </p:sp>
      <p:sp>
        <p:nvSpPr>
          <p:cNvPr id="5" name="Text 2"/>
          <p:cNvSpPr/>
          <p:nvPr/>
        </p:nvSpPr>
        <p:spPr>
          <a:xfrm>
            <a:off x="548640" y="3108960"/>
            <a:ext cx="7680960" cy="1554480"/>
          </a:xfrm>
          <a:prstGeom prst="rect">
            <a:avLst/>
          </a:prstGeom>
          <a:noFill/>
          <a:ln/>
        </p:spPr>
        <p:txBody>
          <a:bodyPr wrap="square" lIns="0" tIns="0" rIns="0" bIns="0" rtlCol="0" anchor="t"/>
          <a:lstStyle/>
          <a:p>
            <a:pPr indent="0" marL="0">
              <a:lnSpc>
                <a:spcPct val="135000"/>
              </a:lnSpc>
              <a:buNone/>
            </a:pPr>
            <a:r>
              <a:rPr lang="en-US" sz="1500" dirty="0">
                <a:solidFill>
                  <a:srgbClr val="52585B"/>
                </a:solidFill>
                <a:latin typeface="Calibri" pitchFamily="34" charset="0"/>
                <a:ea typeface="Calibri" pitchFamily="34" charset="-122"/>
                <a:cs typeface="Calibri" pitchFamily="34" charset="-120"/>
              </a:rPr>
              <a:t>A reorder-point check watches one number per part: on-hand against safety stock. It catches a shortage. It does not catch a component that is comfortably stocked on its own terms and still about to block a far more valuable assembly downstream — nor a shortage already flagged last run and sitting in an approval queue, waiting to be flagged again tomorrow.</a:t>
            </a:r>
            <a:endParaRPr lang="en-US" sz="1500" dirty="0"/>
          </a:p>
        </p:txBody>
      </p:sp>
      <p:sp>
        <p:nvSpPr>
          <p:cNvPr id="6" name="Text 3"/>
          <p:cNvSpPr/>
          <p:nvPr/>
        </p:nvSpPr>
        <p:spPr>
          <a:xfrm>
            <a:off x="548640" y="4937760"/>
            <a:ext cx="8229600" cy="457200"/>
          </a:xfrm>
          <a:prstGeom prst="rect">
            <a:avLst/>
          </a:prstGeom>
          <a:noFill/>
          <a:ln/>
        </p:spPr>
        <p:txBody>
          <a:bodyPr wrap="square" lIns="0" tIns="0" rIns="0" bIns="0" rtlCol="0" anchor="t"/>
          <a:lstStyle/>
          <a:p>
            <a:pPr indent="0" marL="0">
              <a:buNone/>
            </a:pPr>
            <a:r>
              <a:rPr lang="en-US" sz="1700" b="1" dirty="0">
                <a:solidFill>
                  <a:srgbClr val="1B1E20"/>
                </a:solidFill>
                <a:latin typeface="Calibri" pitchFamily="34" charset="0"/>
                <a:ea typeface="Calibri" pitchFamily="34" charset="-122"/>
                <a:cs typeface="Calibri" pitchFamily="34" charset="-120"/>
              </a:rPr>
              <a:t>That takes more than one number. It takes seven.</a:t>
            </a:r>
            <a:endParaRPr lang="en-US" sz="1700" dirty="0"/>
          </a:p>
        </p:txBody>
      </p:sp>
      <p:sp>
        <p:nvSpPr>
          <p:cNvPr id="7" name="Text 4"/>
          <p:cNvSpPr/>
          <p:nvPr/>
        </p:nvSpPr>
        <p:spPr>
          <a:xfrm>
            <a:off x="548640" y="6473952"/>
            <a:ext cx="7315200" cy="274320"/>
          </a:xfrm>
          <a:prstGeom prst="rect">
            <a:avLst/>
          </a:prstGeom>
          <a:noFill/>
          <a:ln/>
        </p:spPr>
        <p:txBody>
          <a:bodyPr wrap="square" lIns="0" tIns="0" rIns="0" bIns="0" rtlCol="0" anchor="ctr"/>
          <a:lstStyle/>
          <a:p>
            <a:pPr indent="0" marL="0">
              <a:buNone/>
            </a:pPr>
            <a:r>
              <a:rPr lang="en-US" sz="850" b="1" spc="100" kern="0" dirty="0">
                <a:solidFill>
                  <a:srgbClr val="52585B"/>
                </a:solidFill>
                <a:latin typeface="Calibri" pitchFamily="34" charset="0"/>
                <a:ea typeface="Calibri" pitchFamily="34" charset="-122"/>
                <a:cs typeface="Calibri" pitchFamily="34" charset="-120"/>
              </a:rPr>
              <a:t>MANUFACTURING INVENTORY INTELLIGENCE</a:t>
            </a:r>
            <a:endParaRPr lang="en-US" sz="850" dirty="0"/>
          </a:p>
        </p:txBody>
      </p:sp>
      <p:sp>
        <p:nvSpPr>
          <p:cNvPr id="8" name="Text 5"/>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52585B"/>
                </a:solidFill>
                <a:latin typeface="Courier New" pitchFamily="34" charset="0"/>
                <a:ea typeface="Courier New" pitchFamily="34" charset="-122"/>
                <a:cs typeface="Courier New" pitchFamily="34" charset="-120"/>
              </a:rPr>
              <a:t>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0058400" cy="822960"/>
          </a:xfrm>
          <a:prstGeom prst="rect">
            <a:avLst/>
          </a:prstGeom>
          <a:noFill/>
          <a:ln/>
        </p:spPr>
        <p:txBody>
          <a:bodyPr wrap="square" lIns="0" tIns="0" rIns="0" bIns="0" rtlCol="0" anchor="t"/>
          <a:lstStyle/>
          <a:p>
            <a:pPr indent="0" marL="0">
              <a:buNone/>
            </a:pPr>
            <a:r>
              <a:rPr lang="en-US" sz="3400" b="1" dirty="0">
                <a:solidFill>
                  <a:srgbClr val="1B1E20"/>
                </a:solidFill>
                <a:latin typeface="Arial" pitchFamily="34" charset="0"/>
                <a:ea typeface="Arial" pitchFamily="34" charset="-122"/>
                <a:cs typeface="Arial" pitchFamily="34" charset="-120"/>
              </a:rPr>
              <a:t>Two actions.</a:t>
            </a:r>
            <a:endParaRPr lang="en-US" sz="3400" dirty="0"/>
          </a:p>
        </p:txBody>
      </p:sp>
      <p:sp>
        <p:nvSpPr>
          <p:cNvPr id="3" name="Shape 1"/>
          <p:cNvSpPr/>
          <p:nvPr/>
        </p:nvSpPr>
        <p:spPr>
          <a:xfrm>
            <a:off x="548640" y="1783080"/>
            <a:ext cx="5257800" cy="2606040"/>
          </a:xfrm>
          <a:prstGeom prst="rect">
            <a:avLst/>
          </a:prstGeom>
          <a:solidFill>
            <a:srgbClr val="FFFFFF"/>
          </a:solidFill>
          <a:ln w="12700">
            <a:solidFill>
              <a:srgbClr val="D8DBD6"/>
            </a:solidFill>
            <a:prstDash val="solid"/>
          </a:ln>
        </p:spPr>
      </p:sp>
      <p:sp>
        <p:nvSpPr>
          <p:cNvPr id="4" name="Shape 2"/>
          <p:cNvSpPr/>
          <p:nvPr/>
        </p:nvSpPr>
        <p:spPr>
          <a:xfrm>
            <a:off x="960120" y="2194560"/>
            <a:ext cx="548640" cy="548640"/>
          </a:xfrm>
          <a:prstGeom prst="roundRect">
            <a:avLst>
              <a:gd name="adj" fmla="val 11667"/>
            </a:avLst>
          </a:prstGeom>
          <a:solidFill>
            <a:srgbClr val="2E6580"/>
          </a:solidFill>
          <a:ln/>
        </p:spPr>
      </p:sp>
      <p:pic>
        <p:nvPicPr>
          <p:cNvPr id="5" name="Image 0" descr="/tmp/claude-1000/-home-anurag-r-work-agentbrick-works-restock-agent/2dd0bea3-cfe1-43a1-8644-31ec55874190/scratchpad/deck/assets/exchange.png">    </p:cNvPr>
          <p:cNvPicPr>
            <a:picLocks noChangeAspect="1"/>
          </p:cNvPicPr>
          <p:nvPr/>
        </p:nvPicPr>
        <p:blipFill>
          <a:blip r:embed="rId1"/>
          <a:stretch>
            <a:fillRect/>
          </a:stretch>
        </p:blipFill>
        <p:spPr>
          <a:xfrm>
            <a:off x="1091794" y="2326234"/>
            <a:ext cx="285293" cy="285293"/>
          </a:xfrm>
          <a:prstGeom prst="rect">
            <a:avLst/>
          </a:prstGeom>
        </p:spPr>
      </p:pic>
      <p:sp>
        <p:nvSpPr>
          <p:cNvPr id="6" name="Text 3"/>
          <p:cNvSpPr/>
          <p:nvPr/>
        </p:nvSpPr>
        <p:spPr>
          <a:xfrm>
            <a:off x="960120" y="2926080"/>
            <a:ext cx="4434840" cy="502920"/>
          </a:xfrm>
          <a:prstGeom prst="rect">
            <a:avLst/>
          </a:prstGeom>
          <a:noFill/>
          <a:ln/>
        </p:spPr>
        <p:txBody>
          <a:bodyPr wrap="square" lIns="0" tIns="0" rIns="0" bIns="0" rtlCol="0" anchor="t"/>
          <a:lstStyle/>
          <a:p>
            <a:pPr indent="0" marL="0">
              <a:buNone/>
            </a:pPr>
            <a:r>
              <a:rPr lang="en-US" sz="2600" b="1" dirty="0">
                <a:solidFill>
                  <a:srgbClr val="2E6580"/>
                </a:solidFill>
                <a:latin typeface="Arial" pitchFamily="34" charset="0"/>
                <a:ea typeface="Arial" pitchFamily="34" charset="-122"/>
                <a:cs typeface="Arial" pitchFamily="34" charset="-120"/>
              </a:rPr>
              <a:t>TRANSFER</a:t>
            </a:r>
            <a:endParaRPr lang="en-US" sz="2600" dirty="0"/>
          </a:p>
        </p:txBody>
      </p:sp>
      <p:sp>
        <p:nvSpPr>
          <p:cNvPr id="7" name="Text 4"/>
          <p:cNvSpPr/>
          <p:nvPr/>
        </p:nvSpPr>
        <p:spPr>
          <a:xfrm>
            <a:off x="960120" y="3520440"/>
            <a:ext cx="4434840" cy="1005840"/>
          </a:xfrm>
          <a:prstGeom prst="rect">
            <a:avLst/>
          </a:prstGeom>
          <a:noFill/>
          <a:ln/>
        </p:spPr>
        <p:txBody>
          <a:bodyPr wrap="square" lIns="0" tIns="0" rIns="0" bIns="0" rtlCol="0" anchor="t"/>
          <a:lstStyle/>
          <a:p>
            <a:pPr indent="0" marL="0">
              <a:lnSpc>
                <a:spcPct val="130000"/>
              </a:lnSpc>
              <a:buNone/>
            </a:pPr>
            <a:r>
              <a:rPr lang="en-US" sz="1400" dirty="0">
                <a:solidFill>
                  <a:srgbClr val="52585B"/>
                </a:solidFill>
                <a:latin typeface="Calibri" pitchFamily="34" charset="0"/>
                <a:ea typeface="Calibri" pitchFamily="34" charset="-122"/>
                <a:cs typeface="Calibri" pitchFamily="34" charset="-120"/>
              </a:rPr>
              <a:t>Move stock you already own from a warehouse with spare to one running short.</a:t>
            </a:r>
            <a:endParaRPr lang="en-US" sz="1400" dirty="0"/>
          </a:p>
        </p:txBody>
      </p:sp>
      <p:sp>
        <p:nvSpPr>
          <p:cNvPr id="8" name="Shape 5"/>
          <p:cNvSpPr/>
          <p:nvPr/>
        </p:nvSpPr>
        <p:spPr>
          <a:xfrm>
            <a:off x="6355080" y="1783080"/>
            <a:ext cx="5257800" cy="2606040"/>
          </a:xfrm>
          <a:prstGeom prst="rect">
            <a:avLst/>
          </a:prstGeom>
          <a:solidFill>
            <a:srgbClr val="FFFFFF"/>
          </a:solidFill>
          <a:ln w="12700">
            <a:solidFill>
              <a:srgbClr val="D8DBD6"/>
            </a:solidFill>
            <a:prstDash val="solid"/>
          </a:ln>
        </p:spPr>
      </p:sp>
      <p:sp>
        <p:nvSpPr>
          <p:cNvPr id="9" name="Shape 6"/>
          <p:cNvSpPr/>
          <p:nvPr/>
        </p:nvSpPr>
        <p:spPr>
          <a:xfrm>
            <a:off x="6766560" y="2194560"/>
            <a:ext cx="548640" cy="548640"/>
          </a:xfrm>
          <a:prstGeom prst="roundRect">
            <a:avLst>
              <a:gd name="adj" fmla="val 11667"/>
            </a:avLst>
          </a:prstGeom>
          <a:solidFill>
            <a:srgbClr val="B85C24"/>
          </a:solidFill>
          <a:ln/>
        </p:spPr>
      </p:sp>
      <p:pic>
        <p:nvPicPr>
          <p:cNvPr id="10" name="Image 1" descr="/tmp/claude-1000/-home-anurag-r-work-agentbrick-works-restock-agent/2dd0bea3-cfe1-43a1-8644-31ec55874190/scratchpad/deck/assets/bag.png">    </p:cNvPr>
          <p:cNvPicPr>
            <a:picLocks noChangeAspect="1"/>
          </p:cNvPicPr>
          <p:nvPr/>
        </p:nvPicPr>
        <p:blipFill>
          <a:blip r:embed="rId2"/>
          <a:stretch>
            <a:fillRect/>
          </a:stretch>
        </p:blipFill>
        <p:spPr>
          <a:xfrm>
            <a:off x="6898234" y="2326234"/>
            <a:ext cx="285293" cy="285293"/>
          </a:xfrm>
          <a:prstGeom prst="rect">
            <a:avLst/>
          </a:prstGeom>
        </p:spPr>
      </p:pic>
      <p:sp>
        <p:nvSpPr>
          <p:cNvPr id="11" name="Text 7"/>
          <p:cNvSpPr/>
          <p:nvPr/>
        </p:nvSpPr>
        <p:spPr>
          <a:xfrm>
            <a:off x="6766560" y="2926080"/>
            <a:ext cx="4434840" cy="502920"/>
          </a:xfrm>
          <a:prstGeom prst="rect">
            <a:avLst/>
          </a:prstGeom>
          <a:noFill/>
          <a:ln/>
        </p:spPr>
        <p:txBody>
          <a:bodyPr wrap="square" lIns="0" tIns="0" rIns="0" bIns="0" rtlCol="0" anchor="t"/>
          <a:lstStyle/>
          <a:p>
            <a:pPr indent="0" marL="0">
              <a:buNone/>
            </a:pPr>
            <a:r>
              <a:rPr lang="en-US" sz="2600" b="1" dirty="0">
                <a:solidFill>
                  <a:srgbClr val="B85C24"/>
                </a:solidFill>
                <a:latin typeface="Arial" pitchFamily="34" charset="0"/>
                <a:ea typeface="Arial" pitchFamily="34" charset="-122"/>
                <a:cs typeface="Arial" pitchFamily="34" charset="-120"/>
              </a:rPr>
              <a:t>BUY</a:t>
            </a:r>
            <a:endParaRPr lang="en-US" sz="2600" dirty="0"/>
          </a:p>
        </p:txBody>
      </p:sp>
      <p:sp>
        <p:nvSpPr>
          <p:cNvPr id="12" name="Text 8"/>
          <p:cNvSpPr/>
          <p:nvPr/>
        </p:nvSpPr>
        <p:spPr>
          <a:xfrm>
            <a:off x="6766560" y="3520440"/>
            <a:ext cx="4434840" cy="1005840"/>
          </a:xfrm>
          <a:prstGeom prst="rect">
            <a:avLst/>
          </a:prstGeom>
          <a:noFill/>
          <a:ln/>
        </p:spPr>
        <p:txBody>
          <a:bodyPr wrap="square" lIns="0" tIns="0" rIns="0" bIns="0" rtlCol="0" anchor="t"/>
          <a:lstStyle/>
          <a:p>
            <a:pPr indent="0" marL="0">
              <a:lnSpc>
                <a:spcPct val="130000"/>
              </a:lnSpc>
              <a:buNone/>
            </a:pPr>
            <a:r>
              <a:rPr lang="en-US" sz="1400" dirty="0">
                <a:solidFill>
                  <a:srgbClr val="52585B"/>
                </a:solidFill>
                <a:latin typeface="Calibri" pitchFamily="34" charset="0"/>
                <a:ea typeface="Calibri" pitchFamily="34" charset="-122"/>
                <a:cs typeface="Calibri" pitchFamily="34" charset="-120"/>
              </a:rPr>
              <a:t>Order from a supplier when nothing in your own network can cover the shortfall.</a:t>
            </a:r>
            <a:endParaRPr lang="en-US" sz="1400" dirty="0"/>
          </a:p>
        </p:txBody>
      </p:sp>
      <p:sp>
        <p:nvSpPr>
          <p:cNvPr id="13" name="Text 9"/>
          <p:cNvSpPr/>
          <p:nvPr/>
        </p:nvSpPr>
        <p:spPr>
          <a:xfrm>
            <a:off x="548640" y="4800600"/>
            <a:ext cx="10515600" cy="457200"/>
          </a:xfrm>
          <a:prstGeom prst="rect">
            <a:avLst/>
          </a:prstGeom>
          <a:noFill/>
          <a:ln/>
        </p:spPr>
        <p:txBody>
          <a:bodyPr wrap="square" lIns="0" tIns="0" rIns="0" bIns="0" rtlCol="0" anchor="t"/>
          <a:lstStyle/>
          <a:p>
            <a:pPr indent="0" marL="0">
              <a:buNone/>
            </a:pPr>
            <a:r>
              <a:rPr lang="en-US" sz="1500" b="1" dirty="0">
                <a:solidFill>
                  <a:srgbClr val="1B1E20"/>
                </a:solidFill>
                <a:latin typeface="Calibri" pitchFamily="34" charset="0"/>
                <a:ea typeface="Calibri" pitchFamily="34" charset="-122"/>
                <a:cs typeface="Calibri" pitchFamily="34" charset="-120"/>
              </a:rPr>
              <a:t>Seven nuances feed the decision</a:t>
            </a:r>
            <a:pPr indent="0" marL="0">
              <a:buNone/>
            </a:pPr>
            <a:r>
              <a:rPr lang="en-US" sz="1500" dirty="0">
                <a:solidFill>
                  <a:srgbClr val="52585B"/>
                </a:solidFill>
                <a:latin typeface="Calibri" pitchFamily="34" charset="0"/>
                <a:ea typeface="Calibri" pitchFamily="34" charset="-122"/>
                <a:cs typeface="Calibri" pitchFamily="34" charset="-120"/>
              </a:rPr>
              <a:t> — which part and warehouse gets flagged, which of the two actions to pick, and how much.</a:t>
            </a:r>
            <a:endParaRPr lang="en-US" sz="1500" dirty="0"/>
          </a:p>
        </p:txBody>
      </p:sp>
      <p:sp>
        <p:nvSpPr>
          <p:cNvPr id="14" name="Text 10"/>
          <p:cNvSpPr/>
          <p:nvPr/>
        </p:nvSpPr>
        <p:spPr>
          <a:xfrm>
            <a:off x="548640" y="6473952"/>
            <a:ext cx="7315200" cy="274320"/>
          </a:xfrm>
          <a:prstGeom prst="rect">
            <a:avLst/>
          </a:prstGeom>
          <a:noFill/>
          <a:ln/>
        </p:spPr>
        <p:txBody>
          <a:bodyPr wrap="square" lIns="0" tIns="0" rIns="0" bIns="0" rtlCol="0" anchor="ctr"/>
          <a:lstStyle/>
          <a:p>
            <a:pPr indent="0" marL="0">
              <a:buNone/>
            </a:pPr>
            <a:r>
              <a:rPr lang="en-US" sz="850" b="1" spc="100" kern="0" dirty="0">
                <a:solidFill>
                  <a:srgbClr val="52585B"/>
                </a:solidFill>
                <a:latin typeface="Calibri" pitchFamily="34" charset="0"/>
                <a:ea typeface="Calibri" pitchFamily="34" charset="-122"/>
                <a:cs typeface="Calibri" pitchFamily="34" charset="-120"/>
              </a:rPr>
              <a:t>MANUFACTURING INVENTORY INTELLIGENCE</a:t>
            </a:r>
            <a:endParaRPr lang="en-US" sz="850" dirty="0"/>
          </a:p>
        </p:txBody>
      </p:sp>
      <p:sp>
        <p:nvSpPr>
          <p:cNvPr id="15" name="Text 11"/>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52585B"/>
                </a:solidFill>
                <a:latin typeface="Courier New" pitchFamily="34" charset="0"/>
                <a:ea typeface="Courier New" pitchFamily="34" charset="-122"/>
                <a:cs typeface="Courier New" pitchFamily="34" charset="-120"/>
              </a:rPr>
              <a:t>03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685800"/>
          </a:xfrm>
          <a:prstGeom prst="rect">
            <a:avLst/>
          </a:prstGeom>
          <a:noFill/>
          <a:ln/>
        </p:spPr>
        <p:txBody>
          <a:bodyPr wrap="square" lIns="0" tIns="0" rIns="0" bIns="0" rtlCol="0" anchor="t"/>
          <a:lstStyle/>
          <a:p>
            <a:pPr indent="0" marL="0">
              <a:buNone/>
            </a:pPr>
            <a:r>
              <a:rPr lang="en-US" sz="3000" b="1" dirty="0">
                <a:solidFill>
                  <a:srgbClr val="1B1E20"/>
                </a:solidFill>
                <a:latin typeface="Arial" pitchFamily="34" charset="0"/>
                <a:ea typeface="Arial" pitchFamily="34" charset="-122"/>
                <a:cs typeface="Arial" pitchFamily="34" charset="-120"/>
              </a:rPr>
              <a:t>Seven nuances behind every call.</a:t>
            </a:r>
            <a:endParaRPr lang="en-US" sz="3000" dirty="0"/>
          </a:p>
        </p:txBody>
      </p:sp>
      <p:sp>
        <p:nvSpPr>
          <p:cNvPr id="3" name="Shape 1"/>
          <p:cNvSpPr/>
          <p:nvPr/>
        </p:nvSpPr>
        <p:spPr>
          <a:xfrm>
            <a:off x="548640" y="1508760"/>
            <a:ext cx="384048" cy="292608"/>
          </a:xfrm>
          <a:prstGeom prst="rect">
            <a:avLst/>
          </a:prstGeom>
          <a:solidFill>
            <a:srgbClr val="FFFFFF"/>
          </a:solidFill>
          <a:ln w="12700">
            <a:solidFill>
              <a:srgbClr val="2E6580"/>
            </a:solidFill>
            <a:prstDash val="solid"/>
          </a:ln>
        </p:spPr>
      </p:sp>
      <p:sp>
        <p:nvSpPr>
          <p:cNvPr id="4" name="Text 2"/>
          <p:cNvSpPr/>
          <p:nvPr/>
        </p:nvSpPr>
        <p:spPr>
          <a:xfrm>
            <a:off x="548640" y="1508760"/>
            <a:ext cx="384048" cy="292608"/>
          </a:xfrm>
          <a:prstGeom prst="rect">
            <a:avLst/>
          </a:prstGeom>
          <a:noFill/>
          <a:ln/>
        </p:spPr>
        <p:txBody>
          <a:bodyPr wrap="square" lIns="0" tIns="0" rIns="0" bIns="0" rtlCol="0" anchor="ctr"/>
          <a:lstStyle/>
          <a:p>
            <a:pPr algn="ctr" indent="0" marL="0">
              <a:buNone/>
            </a:pPr>
            <a:r>
              <a:rPr lang="en-US" sz="1050" b="1" dirty="0">
                <a:solidFill>
                  <a:srgbClr val="2E6580"/>
                </a:solidFill>
                <a:latin typeface="Courier New" pitchFamily="34" charset="0"/>
                <a:ea typeface="Courier New" pitchFamily="34" charset="-122"/>
                <a:cs typeface="Courier New" pitchFamily="34" charset="-120"/>
              </a:rPr>
              <a:t>01</a:t>
            </a:r>
            <a:endParaRPr lang="en-US" sz="1050" dirty="0"/>
          </a:p>
        </p:txBody>
      </p:sp>
      <p:sp>
        <p:nvSpPr>
          <p:cNvPr id="5" name="Text 3"/>
          <p:cNvSpPr/>
          <p:nvPr/>
        </p:nvSpPr>
        <p:spPr>
          <a:xfrm>
            <a:off x="1115568" y="1463040"/>
            <a:ext cx="10469880" cy="493776"/>
          </a:xfrm>
          <a:prstGeom prst="rect">
            <a:avLst/>
          </a:prstGeom>
          <a:noFill/>
          <a:ln/>
        </p:spPr>
        <p:txBody>
          <a:bodyPr wrap="square" lIns="0" tIns="0" rIns="0" bIns="0" rtlCol="0" anchor="t"/>
          <a:lstStyle/>
          <a:p>
            <a:pPr indent="0" marL="0">
              <a:lnSpc>
                <a:spcPct val="122000"/>
              </a:lnSpc>
              <a:buNone/>
            </a:pPr>
            <a:r>
              <a:rPr lang="en-US" sz="1200" b="1" dirty="0">
                <a:solidFill>
                  <a:srgbClr val="1B1E20"/>
                </a:solidFill>
                <a:latin typeface="Calibri" pitchFamily="34" charset="0"/>
                <a:ea typeface="Calibri" pitchFamily="34" charset="-122"/>
                <a:cs typeface="Calibri" pitchFamily="34" charset="-120"/>
              </a:rPr>
              <a:t>Stock position</a:t>
            </a:r>
            <a:pPr indent="0" marL="0">
              <a:lnSpc>
                <a:spcPct val="122000"/>
              </a:lnSpc>
              <a:buNone/>
            </a:pPr>
            <a:r>
              <a:rPr lang="en-US" sz="1200" dirty="0">
                <a:solidFill>
                  <a:srgbClr val="52585B"/>
                </a:solidFill>
                <a:latin typeface="Calibri" pitchFamily="34" charset="0"/>
                <a:ea typeface="Calibri" pitchFamily="34" charset="-122"/>
                <a:cs typeface="Calibri" pitchFamily="34" charset="-120"/>
              </a:rPr>
              <a:t> — current on-hand vs. safety stock vs. max stock level.</a:t>
            </a:r>
            <a:endParaRPr lang="en-US" sz="1200" dirty="0"/>
          </a:p>
        </p:txBody>
      </p:sp>
      <p:sp>
        <p:nvSpPr>
          <p:cNvPr id="6" name="Shape 4"/>
          <p:cNvSpPr/>
          <p:nvPr/>
        </p:nvSpPr>
        <p:spPr>
          <a:xfrm>
            <a:off x="548640" y="2029968"/>
            <a:ext cx="11094415" cy="0"/>
          </a:xfrm>
          <a:prstGeom prst="line">
            <a:avLst/>
          </a:prstGeom>
          <a:noFill/>
          <a:ln w="9525">
            <a:solidFill>
              <a:srgbClr val="D8DBD6"/>
            </a:solidFill>
            <a:prstDash val="solid"/>
          </a:ln>
        </p:spPr>
      </p:sp>
      <p:sp>
        <p:nvSpPr>
          <p:cNvPr id="7" name="Shape 5"/>
          <p:cNvSpPr/>
          <p:nvPr/>
        </p:nvSpPr>
        <p:spPr>
          <a:xfrm>
            <a:off x="548640" y="2075688"/>
            <a:ext cx="384048" cy="292608"/>
          </a:xfrm>
          <a:prstGeom prst="rect">
            <a:avLst/>
          </a:prstGeom>
          <a:solidFill>
            <a:srgbClr val="FFFFFF"/>
          </a:solidFill>
          <a:ln w="12700">
            <a:solidFill>
              <a:srgbClr val="2E6580"/>
            </a:solidFill>
            <a:prstDash val="solid"/>
          </a:ln>
        </p:spPr>
      </p:sp>
      <p:sp>
        <p:nvSpPr>
          <p:cNvPr id="8" name="Text 6"/>
          <p:cNvSpPr/>
          <p:nvPr/>
        </p:nvSpPr>
        <p:spPr>
          <a:xfrm>
            <a:off x="548640" y="2075688"/>
            <a:ext cx="384048" cy="292608"/>
          </a:xfrm>
          <a:prstGeom prst="rect">
            <a:avLst/>
          </a:prstGeom>
          <a:noFill/>
          <a:ln/>
        </p:spPr>
        <p:txBody>
          <a:bodyPr wrap="square" lIns="0" tIns="0" rIns="0" bIns="0" rtlCol="0" anchor="ctr"/>
          <a:lstStyle/>
          <a:p>
            <a:pPr algn="ctr" indent="0" marL="0">
              <a:buNone/>
            </a:pPr>
            <a:r>
              <a:rPr lang="en-US" sz="1050" b="1" dirty="0">
                <a:solidFill>
                  <a:srgbClr val="2E6580"/>
                </a:solidFill>
                <a:latin typeface="Courier New" pitchFamily="34" charset="0"/>
                <a:ea typeface="Courier New" pitchFamily="34" charset="-122"/>
                <a:cs typeface="Courier New" pitchFamily="34" charset="-120"/>
              </a:rPr>
              <a:t>02</a:t>
            </a:r>
            <a:endParaRPr lang="en-US" sz="1050" dirty="0"/>
          </a:p>
        </p:txBody>
      </p:sp>
      <p:sp>
        <p:nvSpPr>
          <p:cNvPr id="9" name="Text 7"/>
          <p:cNvSpPr/>
          <p:nvPr/>
        </p:nvSpPr>
        <p:spPr>
          <a:xfrm>
            <a:off x="1115568" y="2029968"/>
            <a:ext cx="10469880" cy="493776"/>
          </a:xfrm>
          <a:prstGeom prst="rect">
            <a:avLst/>
          </a:prstGeom>
          <a:noFill/>
          <a:ln/>
        </p:spPr>
        <p:txBody>
          <a:bodyPr wrap="square" lIns="0" tIns="0" rIns="0" bIns="0" rtlCol="0" anchor="t"/>
          <a:lstStyle/>
          <a:p>
            <a:pPr indent="0" marL="0">
              <a:lnSpc>
                <a:spcPct val="122000"/>
              </a:lnSpc>
              <a:buNone/>
            </a:pPr>
            <a:r>
              <a:rPr lang="en-US" sz="1200" b="1" dirty="0">
                <a:solidFill>
                  <a:srgbClr val="1B1E20"/>
                </a:solidFill>
                <a:latin typeface="Calibri" pitchFamily="34" charset="0"/>
                <a:ea typeface="Calibri" pitchFamily="34" charset="-122"/>
                <a:cs typeface="Calibri" pitchFamily="34" charset="-120"/>
              </a:rPr>
              <a:t>Seasonality-adjusted burn rate</a:t>
            </a:r>
            <a:pPr indent="0" marL="0">
              <a:lnSpc>
                <a:spcPct val="122000"/>
              </a:lnSpc>
              <a:buNone/>
            </a:pPr>
            <a:r>
              <a:rPr lang="en-US" sz="1200" dirty="0">
                <a:solidFill>
                  <a:srgbClr val="52585B"/>
                </a:solidFill>
                <a:latin typeface="Calibri" pitchFamily="34" charset="0"/>
                <a:ea typeface="Calibri" pitchFamily="34" charset="-122"/>
                <a:cs typeface="Calibri" pitchFamily="34" charset="-120"/>
              </a:rPr>
              <a:t> — how fast it is actually being consumed right now, not a flat historical average, giving real days-of-cover.</a:t>
            </a:r>
            <a:endParaRPr lang="en-US" sz="1200" dirty="0"/>
          </a:p>
        </p:txBody>
      </p:sp>
      <p:sp>
        <p:nvSpPr>
          <p:cNvPr id="10" name="Shape 8"/>
          <p:cNvSpPr/>
          <p:nvPr/>
        </p:nvSpPr>
        <p:spPr>
          <a:xfrm>
            <a:off x="548640" y="2596896"/>
            <a:ext cx="11094415" cy="0"/>
          </a:xfrm>
          <a:prstGeom prst="line">
            <a:avLst/>
          </a:prstGeom>
          <a:noFill/>
          <a:ln w="9525">
            <a:solidFill>
              <a:srgbClr val="D8DBD6"/>
            </a:solidFill>
            <a:prstDash val="solid"/>
          </a:ln>
        </p:spPr>
      </p:sp>
      <p:sp>
        <p:nvSpPr>
          <p:cNvPr id="11" name="Shape 9"/>
          <p:cNvSpPr/>
          <p:nvPr/>
        </p:nvSpPr>
        <p:spPr>
          <a:xfrm>
            <a:off x="548640" y="2642616"/>
            <a:ext cx="384048" cy="292608"/>
          </a:xfrm>
          <a:prstGeom prst="rect">
            <a:avLst/>
          </a:prstGeom>
          <a:solidFill>
            <a:srgbClr val="FFFFFF"/>
          </a:solidFill>
          <a:ln w="12700">
            <a:solidFill>
              <a:srgbClr val="2E6580"/>
            </a:solidFill>
            <a:prstDash val="solid"/>
          </a:ln>
        </p:spPr>
      </p:sp>
      <p:sp>
        <p:nvSpPr>
          <p:cNvPr id="12" name="Text 10"/>
          <p:cNvSpPr/>
          <p:nvPr/>
        </p:nvSpPr>
        <p:spPr>
          <a:xfrm>
            <a:off x="548640" y="2642616"/>
            <a:ext cx="384048" cy="292608"/>
          </a:xfrm>
          <a:prstGeom prst="rect">
            <a:avLst/>
          </a:prstGeom>
          <a:noFill/>
          <a:ln/>
        </p:spPr>
        <p:txBody>
          <a:bodyPr wrap="square" lIns="0" tIns="0" rIns="0" bIns="0" rtlCol="0" anchor="ctr"/>
          <a:lstStyle/>
          <a:p>
            <a:pPr algn="ctr" indent="0" marL="0">
              <a:buNone/>
            </a:pPr>
            <a:r>
              <a:rPr lang="en-US" sz="1050" b="1" dirty="0">
                <a:solidFill>
                  <a:srgbClr val="2E6580"/>
                </a:solidFill>
                <a:latin typeface="Courier New" pitchFamily="34" charset="0"/>
                <a:ea typeface="Courier New" pitchFamily="34" charset="-122"/>
                <a:cs typeface="Courier New" pitchFamily="34" charset="-120"/>
              </a:rPr>
              <a:t>03</a:t>
            </a:r>
            <a:endParaRPr lang="en-US" sz="1050" dirty="0"/>
          </a:p>
        </p:txBody>
      </p:sp>
      <p:sp>
        <p:nvSpPr>
          <p:cNvPr id="13" name="Text 11"/>
          <p:cNvSpPr/>
          <p:nvPr/>
        </p:nvSpPr>
        <p:spPr>
          <a:xfrm>
            <a:off x="1115568" y="2596896"/>
            <a:ext cx="10469880" cy="493776"/>
          </a:xfrm>
          <a:prstGeom prst="rect">
            <a:avLst/>
          </a:prstGeom>
          <a:noFill/>
          <a:ln/>
        </p:spPr>
        <p:txBody>
          <a:bodyPr wrap="square" lIns="0" tIns="0" rIns="0" bIns="0" rtlCol="0" anchor="t"/>
          <a:lstStyle/>
          <a:p>
            <a:pPr indent="0" marL="0">
              <a:lnSpc>
                <a:spcPct val="122000"/>
              </a:lnSpc>
              <a:buNone/>
            </a:pPr>
            <a:r>
              <a:rPr lang="en-US" sz="1200" b="1" dirty="0">
                <a:solidFill>
                  <a:srgbClr val="1B1E20"/>
                </a:solidFill>
                <a:latin typeface="Calibri" pitchFamily="34" charset="0"/>
                <a:ea typeface="Calibri" pitchFamily="34" charset="-122"/>
                <a:cs typeface="Calibri" pitchFamily="34" charset="-120"/>
              </a:rPr>
              <a:t>Lead-time drift</a:t>
            </a:r>
            <a:pPr indent="0" marL="0">
              <a:lnSpc>
                <a:spcPct val="122000"/>
              </a:lnSpc>
              <a:buNone/>
            </a:pPr>
            <a:r>
              <a:rPr lang="en-US" sz="1200" dirty="0">
                <a:solidFill>
                  <a:srgbClr val="52585B"/>
                </a:solidFill>
                <a:latin typeface="Calibri" pitchFamily="34" charset="0"/>
                <a:ea typeface="Calibri" pitchFamily="34" charset="-122"/>
                <a:cs typeface="Calibri" pitchFamily="34" charset="-120"/>
              </a:rPr>
              <a:t> — the supplier's contracted lead time vs. what they have actually been delivering in, so the buy option uses a real wait, not the contract's optimistic one.</a:t>
            </a:r>
            <a:endParaRPr lang="en-US" sz="1200" dirty="0"/>
          </a:p>
        </p:txBody>
      </p:sp>
      <p:sp>
        <p:nvSpPr>
          <p:cNvPr id="14" name="Shape 12"/>
          <p:cNvSpPr/>
          <p:nvPr/>
        </p:nvSpPr>
        <p:spPr>
          <a:xfrm>
            <a:off x="548640" y="3163824"/>
            <a:ext cx="11094415" cy="0"/>
          </a:xfrm>
          <a:prstGeom prst="line">
            <a:avLst/>
          </a:prstGeom>
          <a:noFill/>
          <a:ln w="9525">
            <a:solidFill>
              <a:srgbClr val="D8DBD6"/>
            </a:solidFill>
            <a:prstDash val="solid"/>
          </a:ln>
        </p:spPr>
      </p:sp>
      <p:sp>
        <p:nvSpPr>
          <p:cNvPr id="15" name="Shape 13"/>
          <p:cNvSpPr/>
          <p:nvPr/>
        </p:nvSpPr>
        <p:spPr>
          <a:xfrm>
            <a:off x="548640" y="3209544"/>
            <a:ext cx="384048" cy="292608"/>
          </a:xfrm>
          <a:prstGeom prst="rect">
            <a:avLst/>
          </a:prstGeom>
          <a:solidFill>
            <a:srgbClr val="FFFFFF"/>
          </a:solidFill>
          <a:ln w="12700">
            <a:solidFill>
              <a:srgbClr val="2E6580"/>
            </a:solidFill>
            <a:prstDash val="solid"/>
          </a:ln>
        </p:spPr>
      </p:sp>
      <p:sp>
        <p:nvSpPr>
          <p:cNvPr id="16" name="Text 14"/>
          <p:cNvSpPr/>
          <p:nvPr/>
        </p:nvSpPr>
        <p:spPr>
          <a:xfrm>
            <a:off x="548640" y="3209544"/>
            <a:ext cx="384048" cy="292608"/>
          </a:xfrm>
          <a:prstGeom prst="rect">
            <a:avLst/>
          </a:prstGeom>
          <a:noFill/>
          <a:ln/>
        </p:spPr>
        <p:txBody>
          <a:bodyPr wrap="square" lIns="0" tIns="0" rIns="0" bIns="0" rtlCol="0" anchor="ctr"/>
          <a:lstStyle/>
          <a:p>
            <a:pPr algn="ctr" indent="0" marL="0">
              <a:buNone/>
            </a:pPr>
            <a:r>
              <a:rPr lang="en-US" sz="1050" b="1" dirty="0">
                <a:solidFill>
                  <a:srgbClr val="2E6580"/>
                </a:solidFill>
                <a:latin typeface="Courier New" pitchFamily="34" charset="0"/>
                <a:ea typeface="Courier New" pitchFamily="34" charset="-122"/>
                <a:cs typeface="Courier New" pitchFamily="34" charset="-120"/>
              </a:rPr>
              <a:t>04</a:t>
            </a:r>
            <a:endParaRPr lang="en-US" sz="1050" dirty="0"/>
          </a:p>
        </p:txBody>
      </p:sp>
      <p:sp>
        <p:nvSpPr>
          <p:cNvPr id="17" name="Text 15"/>
          <p:cNvSpPr/>
          <p:nvPr/>
        </p:nvSpPr>
        <p:spPr>
          <a:xfrm>
            <a:off x="1115568" y="3163824"/>
            <a:ext cx="10469880" cy="493776"/>
          </a:xfrm>
          <a:prstGeom prst="rect">
            <a:avLst/>
          </a:prstGeom>
          <a:noFill/>
          <a:ln/>
        </p:spPr>
        <p:txBody>
          <a:bodyPr wrap="square" lIns="0" tIns="0" rIns="0" bIns="0" rtlCol="0" anchor="t"/>
          <a:lstStyle/>
          <a:p>
            <a:pPr indent="0" marL="0">
              <a:lnSpc>
                <a:spcPct val="122000"/>
              </a:lnSpc>
              <a:buNone/>
            </a:pPr>
            <a:r>
              <a:rPr lang="en-US" sz="1200" b="1" dirty="0">
                <a:solidFill>
                  <a:srgbClr val="1B1E20"/>
                </a:solidFill>
                <a:latin typeface="Calibri" pitchFamily="34" charset="0"/>
                <a:ea typeface="Calibri" pitchFamily="34" charset="-122"/>
                <a:cs typeface="Calibri" pitchFamily="34" charset="-120"/>
              </a:rPr>
              <a:t>Supplier reliability (OTD rate)</a:t>
            </a:r>
            <a:pPr indent="0" marL="0">
              <a:lnSpc>
                <a:spcPct val="122000"/>
              </a:lnSpc>
              <a:buNone/>
            </a:pPr>
            <a:r>
              <a:rPr lang="en-US" sz="1200" dirty="0">
                <a:solidFill>
                  <a:srgbClr val="52585B"/>
                </a:solidFill>
                <a:latin typeface="Calibri" pitchFamily="34" charset="0"/>
                <a:ea typeface="Calibri" pitchFamily="34" charset="-122"/>
                <a:cs typeface="Calibri" pitchFamily="34" charset="-120"/>
              </a:rPr>
              <a:t> — how often that supplier delivers on time at all, which is what makes buying look risky as an option.</a:t>
            </a:r>
            <a:endParaRPr lang="en-US" sz="1200" dirty="0"/>
          </a:p>
        </p:txBody>
      </p:sp>
      <p:sp>
        <p:nvSpPr>
          <p:cNvPr id="18" name="Shape 16"/>
          <p:cNvSpPr/>
          <p:nvPr/>
        </p:nvSpPr>
        <p:spPr>
          <a:xfrm>
            <a:off x="548640" y="3730752"/>
            <a:ext cx="11094415" cy="0"/>
          </a:xfrm>
          <a:prstGeom prst="line">
            <a:avLst/>
          </a:prstGeom>
          <a:noFill/>
          <a:ln w="9525">
            <a:solidFill>
              <a:srgbClr val="D8DBD6"/>
            </a:solidFill>
            <a:prstDash val="solid"/>
          </a:ln>
        </p:spPr>
      </p:sp>
      <p:sp>
        <p:nvSpPr>
          <p:cNvPr id="19" name="Shape 17"/>
          <p:cNvSpPr/>
          <p:nvPr/>
        </p:nvSpPr>
        <p:spPr>
          <a:xfrm>
            <a:off x="548640" y="3776472"/>
            <a:ext cx="384048" cy="292608"/>
          </a:xfrm>
          <a:prstGeom prst="rect">
            <a:avLst/>
          </a:prstGeom>
          <a:solidFill>
            <a:srgbClr val="FFFFFF"/>
          </a:solidFill>
          <a:ln w="12700">
            <a:solidFill>
              <a:srgbClr val="2E6580"/>
            </a:solidFill>
            <a:prstDash val="solid"/>
          </a:ln>
        </p:spPr>
      </p:sp>
      <p:sp>
        <p:nvSpPr>
          <p:cNvPr id="20" name="Text 18"/>
          <p:cNvSpPr/>
          <p:nvPr/>
        </p:nvSpPr>
        <p:spPr>
          <a:xfrm>
            <a:off x="548640" y="3776472"/>
            <a:ext cx="384048" cy="292608"/>
          </a:xfrm>
          <a:prstGeom prst="rect">
            <a:avLst/>
          </a:prstGeom>
          <a:noFill/>
          <a:ln/>
        </p:spPr>
        <p:txBody>
          <a:bodyPr wrap="square" lIns="0" tIns="0" rIns="0" bIns="0" rtlCol="0" anchor="ctr"/>
          <a:lstStyle/>
          <a:p>
            <a:pPr algn="ctr" indent="0" marL="0">
              <a:buNone/>
            </a:pPr>
            <a:r>
              <a:rPr lang="en-US" sz="1050" b="1" dirty="0">
                <a:solidFill>
                  <a:srgbClr val="2E6580"/>
                </a:solidFill>
                <a:latin typeface="Courier New" pitchFamily="34" charset="0"/>
                <a:ea typeface="Courier New" pitchFamily="34" charset="-122"/>
                <a:cs typeface="Courier New" pitchFamily="34" charset="-120"/>
              </a:rPr>
              <a:t>05</a:t>
            </a:r>
            <a:endParaRPr lang="en-US" sz="1050" dirty="0"/>
          </a:p>
        </p:txBody>
      </p:sp>
      <p:sp>
        <p:nvSpPr>
          <p:cNvPr id="21" name="Text 19"/>
          <p:cNvSpPr/>
          <p:nvPr/>
        </p:nvSpPr>
        <p:spPr>
          <a:xfrm>
            <a:off x="1115568" y="3730752"/>
            <a:ext cx="10469880" cy="731520"/>
          </a:xfrm>
          <a:prstGeom prst="rect">
            <a:avLst/>
          </a:prstGeom>
          <a:noFill/>
          <a:ln/>
        </p:spPr>
        <p:txBody>
          <a:bodyPr wrap="square" lIns="0" tIns="0" rIns="0" bIns="0" rtlCol="0" anchor="t"/>
          <a:lstStyle/>
          <a:p>
            <a:pPr indent="0" marL="0">
              <a:lnSpc>
                <a:spcPct val="122000"/>
              </a:lnSpc>
              <a:buNone/>
            </a:pPr>
            <a:r>
              <a:rPr lang="en-US" sz="1200" b="1" dirty="0">
                <a:solidFill>
                  <a:srgbClr val="1B1E20"/>
                </a:solidFill>
                <a:latin typeface="Calibri" pitchFamily="34" charset="0"/>
                <a:ea typeface="Calibri" pitchFamily="34" charset="-122"/>
                <a:cs typeface="Calibri" pitchFamily="34" charset="-120"/>
              </a:rPr>
              <a:t>Network transfer feasibility</a:t>
            </a:r>
            <a:pPr indent="0" marL="0">
              <a:lnSpc>
                <a:spcPct val="122000"/>
              </a:lnSpc>
              <a:buNone/>
            </a:pPr>
            <a:r>
              <a:rPr lang="en-US" sz="1200" dirty="0">
                <a:solidFill>
                  <a:srgbClr val="52585B"/>
                </a:solidFill>
                <a:latin typeface="Calibri" pitchFamily="34" charset="0"/>
                <a:ea typeface="Calibri" pitchFamily="34" charset="-122"/>
                <a:cs typeface="Calibri" pitchFamily="34" charset="-120"/>
              </a:rPr>
              <a:t> — whether another warehouse has spare stock to cover it, how much it has to spare, and what the donor warehouse is left with afterward. This is what lets transfer beat buy when it can.</a:t>
            </a:r>
            <a:endParaRPr lang="en-US" sz="1200" dirty="0"/>
          </a:p>
        </p:txBody>
      </p:sp>
      <p:sp>
        <p:nvSpPr>
          <p:cNvPr id="22" name="Shape 20"/>
          <p:cNvSpPr/>
          <p:nvPr/>
        </p:nvSpPr>
        <p:spPr>
          <a:xfrm>
            <a:off x="548640" y="4535424"/>
            <a:ext cx="11094415" cy="0"/>
          </a:xfrm>
          <a:prstGeom prst="line">
            <a:avLst/>
          </a:prstGeom>
          <a:noFill/>
          <a:ln w="9525">
            <a:solidFill>
              <a:srgbClr val="D8DBD6"/>
            </a:solidFill>
            <a:prstDash val="solid"/>
          </a:ln>
        </p:spPr>
      </p:sp>
      <p:sp>
        <p:nvSpPr>
          <p:cNvPr id="23" name="Shape 21"/>
          <p:cNvSpPr/>
          <p:nvPr/>
        </p:nvSpPr>
        <p:spPr>
          <a:xfrm>
            <a:off x="548640" y="4581144"/>
            <a:ext cx="384048" cy="292608"/>
          </a:xfrm>
          <a:prstGeom prst="rect">
            <a:avLst/>
          </a:prstGeom>
          <a:solidFill>
            <a:srgbClr val="FFFFFF"/>
          </a:solidFill>
          <a:ln w="12700">
            <a:solidFill>
              <a:srgbClr val="2E6580"/>
            </a:solidFill>
            <a:prstDash val="solid"/>
          </a:ln>
        </p:spPr>
      </p:sp>
      <p:sp>
        <p:nvSpPr>
          <p:cNvPr id="24" name="Text 22"/>
          <p:cNvSpPr/>
          <p:nvPr/>
        </p:nvSpPr>
        <p:spPr>
          <a:xfrm>
            <a:off x="548640" y="4581144"/>
            <a:ext cx="384048" cy="292608"/>
          </a:xfrm>
          <a:prstGeom prst="rect">
            <a:avLst/>
          </a:prstGeom>
          <a:noFill/>
          <a:ln/>
        </p:spPr>
        <p:txBody>
          <a:bodyPr wrap="square" lIns="0" tIns="0" rIns="0" bIns="0" rtlCol="0" anchor="ctr"/>
          <a:lstStyle/>
          <a:p>
            <a:pPr algn="ctr" indent="0" marL="0">
              <a:buNone/>
            </a:pPr>
            <a:r>
              <a:rPr lang="en-US" sz="1050" b="1" dirty="0">
                <a:solidFill>
                  <a:srgbClr val="2E6580"/>
                </a:solidFill>
                <a:latin typeface="Courier New" pitchFamily="34" charset="0"/>
                <a:ea typeface="Courier New" pitchFamily="34" charset="-122"/>
                <a:cs typeface="Courier New" pitchFamily="34" charset="-120"/>
              </a:rPr>
              <a:t>06</a:t>
            </a:r>
            <a:endParaRPr lang="en-US" sz="1050" dirty="0"/>
          </a:p>
        </p:txBody>
      </p:sp>
      <p:sp>
        <p:nvSpPr>
          <p:cNvPr id="25" name="Text 23"/>
          <p:cNvSpPr/>
          <p:nvPr/>
        </p:nvSpPr>
        <p:spPr>
          <a:xfrm>
            <a:off x="1115568" y="4535424"/>
            <a:ext cx="10469880" cy="731520"/>
          </a:xfrm>
          <a:prstGeom prst="rect">
            <a:avLst/>
          </a:prstGeom>
          <a:noFill/>
          <a:ln/>
        </p:spPr>
        <p:txBody>
          <a:bodyPr wrap="square" lIns="0" tIns="0" rIns="0" bIns="0" rtlCol="0" anchor="t"/>
          <a:lstStyle/>
          <a:p>
            <a:pPr indent="0" marL="0">
              <a:lnSpc>
                <a:spcPct val="122000"/>
              </a:lnSpc>
              <a:buNone/>
            </a:pPr>
            <a:r>
              <a:rPr lang="en-US" sz="1200" b="1" dirty="0">
                <a:solidFill>
                  <a:srgbClr val="1B1E20"/>
                </a:solidFill>
                <a:latin typeface="Calibri" pitchFamily="34" charset="0"/>
                <a:ea typeface="Calibri" pitchFamily="34" charset="-122"/>
                <a:cs typeface="Calibri" pitchFamily="34" charset="-120"/>
              </a:rPr>
              <a:t>BOM cascade exposure</a:t>
            </a:r>
            <a:pPr indent="0" marL="0">
              <a:lnSpc>
                <a:spcPct val="122000"/>
              </a:lnSpc>
              <a:buNone/>
            </a:pPr>
            <a:r>
              <a:rPr lang="en-US" sz="1200" dirty="0">
                <a:solidFill>
                  <a:srgbClr val="52585B"/>
                </a:solidFill>
                <a:latin typeface="Calibri" pitchFamily="34" charset="0"/>
                <a:ea typeface="Calibri" pitchFamily="34" charset="-122"/>
                <a:cs typeface="Calibri" pitchFamily="34" charset="-120"/>
              </a:rPr>
              <a:t> — a part can look fine on its own and still be about to block a much more valuable assembly it feeds into. The one nuance that catches what the other six would miss entirely.</a:t>
            </a:r>
            <a:endParaRPr lang="en-US" sz="1200" dirty="0"/>
          </a:p>
        </p:txBody>
      </p:sp>
      <p:sp>
        <p:nvSpPr>
          <p:cNvPr id="26" name="Shape 24"/>
          <p:cNvSpPr/>
          <p:nvPr/>
        </p:nvSpPr>
        <p:spPr>
          <a:xfrm>
            <a:off x="548640" y="5340096"/>
            <a:ext cx="11094415" cy="0"/>
          </a:xfrm>
          <a:prstGeom prst="line">
            <a:avLst/>
          </a:prstGeom>
          <a:noFill/>
          <a:ln w="9525">
            <a:solidFill>
              <a:srgbClr val="D8DBD6"/>
            </a:solidFill>
            <a:prstDash val="solid"/>
          </a:ln>
        </p:spPr>
      </p:sp>
      <p:sp>
        <p:nvSpPr>
          <p:cNvPr id="27" name="Shape 25"/>
          <p:cNvSpPr/>
          <p:nvPr/>
        </p:nvSpPr>
        <p:spPr>
          <a:xfrm>
            <a:off x="548640" y="5385816"/>
            <a:ext cx="384048" cy="292608"/>
          </a:xfrm>
          <a:prstGeom prst="rect">
            <a:avLst/>
          </a:prstGeom>
          <a:solidFill>
            <a:srgbClr val="FFFFFF"/>
          </a:solidFill>
          <a:ln w="12700">
            <a:solidFill>
              <a:srgbClr val="2E6580"/>
            </a:solidFill>
            <a:prstDash val="solid"/>
          </a:ln>
        </p:spPr>
      </p:sp>
      <p:sp>
        <p:nvSpPr>
          <p:cNvPr id="28" name="Text 26"/>
          <p:cNvSpPr/>
          <p:nvPr/>
        </p:nvSpPr>
        <p:spPr>
          <a:xfrm>
            <a:off x="548640" y="5385816"/>
            <a:ext cx="384048" cy="292608"/>
          </a:xfrm>
          <a:prstGeom prst="rect">
            <a:avLst/>
          </a:prstGeom>
          <a:noFill/>
          <a:ln/>
        </p:spPr>
        <p:txBody>
          <a:bodyPr wrap="square" lIns="0" tIns="0" rIns="0" bIns="0" rtlCol="0" anchor="ctr"/>
          <a:lstStyle/>
          <a:p>
            <a:pPr algn="ctr" indent="0" marL="0">
              <a:buNone/>
            </a:pPr>
            <a:r>
              <a:rPr lang="en-US" sz="1050" b="1" dirty="0">
                <a:solidFill>
                  <a:srgbClr val="2E6580"/>
                </a:solidFill>
                <a:latin typeface="Courier New" pitchFamily="34" charset="0"/>
                <a:ea typeface="Courier New" pitchFamily="34" charset="-122"/>
                <a:cs typeface="Courier New" pitchFamily="34" charset="-120"/>
              </a:rPr>
              <a:t>07</a:t>
            </a:r>
            <a:endParaRPr lang="en-US" sz="1050" dirty="0"/>
          </a:p>
        </p:txBody>
      </p:sp>
      <p:sp>
        <p:nvSpPr>
          <p:cNvPr id="29" name="Text 27"/>
          <p:cNvSpPr/>
          <p:nvPr/>
        </p:nvSpPr>
        <p:spPr>
          <a:xfrm>
            <a:off x="1115568" y="5340096"/>
            <a:ext cx="10469880" cy="493776"/>
          </a:xfrm>
          <a:prstGeom prst="rect">
            <a:avLst/>
          </a:prstGeom>
          <a:noFill/>
          <a:ln/>
        </p:spPr>
        <p:txBody>
          <a:bodyPr wrap="square" lIns="0" tIns="0" rIns="0" bIns="0" rtlCol="0" anchor="t"/>
          <a:lstStyle/>
          <a:p>
            <a:pPr indent="0" marL="0">
              <a:lnSpc>
                <a:spcPct val="122000"/>
              </a:lnSpc>
              <a:buNone/>
            </a:pPr>
            <a:r>
              <a:rPr lang="en-US" sz="1200" b="1" dirty="0">
                <a:solidFill>
                  <a:srgbClr val="1B1E20"/>
                </a:solidFill>
                <a:latin typeface="Calibri" pitchFamily="34" charset="0"/>
                <a:ea typeface="Calibri" pitchFamily="34" charset="-122"/>
                <a:cs typeface="Calibri" pitchFamily="34" charset="-120"/>
              </a:rPr>
              <a:t>Open-commitment age</a:t>
            </a:r>
            <a:pPr indent="0" marL="0">
              <a:lnSpc>
                <a:spcPct val="122000"/>
              </a:lnSpc>
              <a:buNone/>
            </a:pPr>
            <a:r>
              <a:rPr lang="en-US" sz="1200" dirty="0">
                <a:solidFill>
                  <a:srgbClr val="52585B"/>
                </a:solidFill>
                <a:latin typeface="Calibri" pitchFamily="34" charset="0"/>
                <a:ea typeface="Calibri" pitchFamily="34" charset="-122"/>
                <a:cs typeface="Calibri" pitchFamily="34" charset="-120"/>
              </a:rPr>
              <a:t> — whether a pending order already covers this exact shortage, so it is not flagged and re-flagged for the same problem every run.</a:t>
            </a:r>
            <a:endParaRPr lang="en-US" sz="1200" dirty="0"/>
          </a:p>
        </p:txBody>
      </p:sp>
      <p:sp>
        <p:nvSpPr>
          <p:cNvPr id="30" name="Text 28"/>
          <p:cNvSpPr/>
          <p:nvPr/>
        </p:nvSpPr>
        <p:spPr>
          <a:xfrm>
            <a:off x="548640" y="6473952"/>
            <a:ext cx="7315200" cy="274320"/>
          </a:xfrm>
          <a:prstGeom prst="rect">
            <a:avLst/>
          </a:prstGeom>
          <a:noFill/>
          <a:ln/>
        </p:spPr>
        <p:txBody>
          <a:bodyPr wrap="square" lIns="0" tIns="0" rIns="0" bIns="0" rtlCol="0" anchor="ctr"/>
          <a:lstStyle/>
          <a:p>
            <a:pPr indent="0" marL="0">
              <a:buNone/>
            </a:pPr>
            <a:r>
              <a:rPr lang="en-US" sz="850" b="1" spc="100" kern="0" dirty="0">
                <a:solidFill>
                  <a:srgbClr val="52585B"/>
                </a:solidFill>
                <a:latin typeface="Calibri" pitchFamily="34" charset="0"/>
                <a:ea typeface="Calibri" pitchFamily="34" charset="-122"/>
                <a:cs typeface="Calibri" pitchFamily="34" charset="-120"/>
              </a:rPr>
              <a:t>MANUFACTURING INVENTORY INTELLIGENCE</a:t>
            </a:r>
            <a:endParaRPr lang="en-US" sz="850" dirty="0"/>
          </a:p>
        </p:txBody>
      </p:sp>
      <p:sp>
        <p:nvSpPr>
          <p:cNvPr id="31" name="Text 29"/>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52585B"/>
                </a:solidFill>
                <a:latin typeface="Courier New" pitchFamily="34" charset="0"/>
                <a:ea typeface="Courier New" pitchFamily="34" charset="-122"/>
                <a:cs typeface="Courier New" pitchFamily="34" charset="-120"/>
              </a:rPr>
              <a:t>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457200" cy="457200"/>
          </a:xfrm>
          <a:prstGeom prst="roundRect">
            <a:avLst>
              <a:gd name="adj" fmla="val 14000"/>
            </a:avLst>
          </a:prstGeom>
          <a:solidFill>
            <a:srgbClr val="2E6580"/>
          </a:solidFill>
          <a:ln/>
        </p:spPr>
      </p:sp>
      <p:pic>
        <p:nvPicPr>
          <p:cNvPr id="3" name="Image 0" descr="/tmp/claude-1000/-home-anurag-r-work-agentbrick-works-restock-agent/2dd0bea3-cfe1-43a1-8644-31ec55874190/scratchpad/deck/assets/exchange.png">    </p:cNvPr>
          <p:cNvPicPr>
            <a:picLocks noChangeAspect="1"/>
          </p:cNvPicPr>
          <p:nvPr/>
        </p:nvPicPr>
        <p:blipFill>
          <a:blip r:embed="rId1"/>
          <a:stretch>
            <a:fillRect/>
          </a:stretch>
        </p:blipFill>
        <p:spPr>
          <a:xfrm>
            <a:off x="658368" y="658368"/>
            <a:ext cx="237744" cy="237744"/>
          </a:xfrm>
          <a:prstGeom prst="rect">
            <a:avLst/>
          </a:prstGeom>
        </p:spPr>
      </p:pic>
      <p:sp>
        <p:nvSpPr>
          <p:cNvPr id="4" name="Shape 1"/>
          <p:cNvSpPr/>
          <p:nvPr/>
        </p:nvSpPr>
        <p:spPr>
          <a:xfrm>
            <a:off x="1170432" y="658368"/>
            <a:ext cx="3200400" cy="292608"/>
          </a:xfrm>
          <a:prstGeom prst="roundRect">
            <a:avLst>
              <a:gd name="adj" fmla="val 50000"/>
            </a:avLst>
          </a:prstGeom>
          <a:solidFill>
            <a:srgbClr val="FFFFFF"/>
          </a:solidFill>
          <a:ln w="12700">
            <a:solidFill>
              <a:srgbClr val="2E6580"/>
            </a:solidFill>
            <a:prstDash val="solid"/>
          </a:ln>
        </p:spPr>
      </p:sp>
      <p:sp>
        <p:nvSpPr>
          <p:cNvPr id="5" name="Text 2"/>
          <p:cNvSpPr/>
          <p:nvPr/>
        </p:nvSpPr>
        <p:spPr>
          <a:xfrm>
            <a:off x="1170432" y="658368"/>
            <a:ext cx="3200400" cy="292608"/>
          </a:xfrm>
          <a:prstGeom prst="rect">
            <a:avLst/>
          </a:prstGeom>
          <a:noFill/>
          <a:ln/>
        </p:spPr>
        <p:txBody>
          <a:bodyPr wrap="square" lIns="0" tIns="0" rIns="0" bIns="0" rtlCol="0" anchor="ctr"/>
          <a:lstStyle/>
          <a:p>
            <a:pPr algn="ctr" indent="0" marL="0">
              <a:buNone/>
            </a:pPr>
            <a:r>
              <a:rPr lang="en-US" sz="900" dirty="0">
                <a:solidFill>
                  <a:srgbClr val="2E6580"/>
                </a:solidFill>
                <a:latin typeface="Courier New" pitchFamily="34" charset="0"/>
                <a:ea typeface="Courier New" pitchFamily="34" charset="-122"/>
                <a:cs typeface="Courier New" pitchFamily="34" charset="-120"/>
              </a:rPr>
              <a:t>LIVE · REAL PRODUCTION RUN</a:t>
            </a:r>
            <a:endParaRPr lang="en-US" sz="900" dirty="0"/>
          </a:p>
        </p:txBody>
      </p:sp>
      <p:sp>
        <p:nvSpPr>
          <p:cNvPr id="6" name="Text 3"/>
          <p:cNvSpPr/>
          <p:nvPr/>
        </p:nvSpPr>
        <p:spPr>
          <a:xfrm>
            <a:off x="548640" y="1234440"/>
            <a:ext cx="8686800" cy="548640"/>
          </a:xfrm>
          <a:prstGeom prst="rect">
            <a:avLst/>
          </a:prstGeom>
          <a:noFill/>
          <a:ln/>
        </p:spPr>
        <p:txBody>
          <a:bodyPr wrap="square" lIns="0" tIns="0" rIns="0" bIns="0" rtlCol="0" anchor="t"/>
          <a:lstStyle/>
          <a:p>
            <a:pPr indent="0" marL="0">
              <a:buNone/>
            </a:pPr>
            <a:r>
              <a:rPr lang="en-US" sz="2900" b="1" dirty="0">
                <a:solidFill>
                  <a:srgbClr val="1B1E20"/>
                </a:solidFill>
                <a:latin typeface="Arial" pitchFamily="34" charset="0"/>
                <a:ea typeface="Arial" pitchFamily="34" charset="-122"/>
                <a:cs typeface="Arial" pitchFamily="34" charset="-120"/>
              </a:rPr>
              <a:t>Transfer 46 units of P020</a:t>
            </a:r>
            <a:endParaRPr lang="en-US" sz="2900" dirty="0"/>
          </a:p>
        </p:txBody>
      </p:sp>
      <p:sp>
        <p:nvSpPr>
          <p:cNvPr id="7" name="Text 4"/>
          <p:cNvSpPr/>
          <p:nvPr/>
        </p:nvSpPr>
        <p:spPr>
          <a:xfrm>
            <a:off x="548640" y="1810512"/>
            <a:ext cx="5486400" cy="320040"/>
          </a:xfrm>
          <a:prstGeom prst="rect">
            <a:avLst/>
          </a:prstGeom>
          <a:noFill/>
          <a:ln/>
        </p:spPr>
        <p:txBody>
          <a:bodyPr wrap="square" lIns="0" tIns="0" rIns="0" bIns="0" rtlCol="0" anchor="t"/>
          <a:lstStyle/>
          <a:p>
            <a:pPr indent="0" marL="0">
              <a:buNone/>
            </a:pPr>
            <a:r>
              <a:rPr lang="en-US" sz="1400" b="1" dirty="0">
                <a:solidFill>
                  <a:srgbClr val="2E6580"/>
                </a:solidFill>
                <a:latin typeface="Courier New" pitchFamily="34" charset="0"/>
                <a:ea typeface="Courier New" pitchFamily="34" charset="-122"/>
                <a:cs typeface="Courier New" pitchFamily="34" charset="-120"/>
              </a:rPr>
              <a:t>WH010 → WH012</a:t>
            </a:r>
            <a:endParaRPr lang="en-US" sz="1400" dirty="0"/>
          </a:p>
        </p:txBody>
      </p:sp>
      <p:sp>
        <p:nvSpPr>
          <p:cNvPr id="8" name="Text 5"/>
          <p:cNvSpPr/>
          <p:nvPr/>
        </p:nvSpPr>
        <p:spPr>
          <a:xfrm>
            <a:off x="548640" y="2468880"/>
            <a:ext cx="5943600" cy="1463040"/>
          </a:xfrm>
          <a:prstGeom prst="rect">
            <a:avLst/>
          </a:prstGeom>
          <a:noFill/>
          <a:ln/>
        </p:spPr>
        <p:txBody>
          <a:bodyPr wrap="square" lIns="0" tIns="0" rIns="0" bIns="0" rtlCol="0" anchor="t"/>
          <a:lstStyle/>
          <a:p>
            <a:pPr indent="0" marL="0">
              <a:lnSpc>
                <a:spcPct val="135000"/>
              </a:lnSpc>
              <a:buNone/>
            </a:pPr>
            <a:r>
              <a:rPr lang="en-US" sz="1400" dirty="0">
                <a:solidFill>
                  <a:srgbClr val="52585B"/>
                </a:solidFill>
                <a:latin typeface="Calibri" pitchFamily="34" charset="0"/>
                <a:ea typeface="Calibri" pitchFamily="34" charset="-122"/>
                <a:cs typeface="Calibri" pitchFamily="34" charset="-120"/>
              </a:rPr>
              <a:t>67 on hand against a safety stock of 113 — 41% under, with 0.89 days of cover left. WH010 carries 934 units of surplus; releasing 46 still leaves the donor 888 units above its own safety stock.</a:t>
            </a:r>
            <a:endParaRPr lang="en-US" sz="1400" dirty="0"/>
          </a:p>
        </p:txBody>
      </p:sp>
      <p:sp>
        <p:nvSpPr>
          <p:cNvPr id="9" name="Text 6"/>
          <p:cNvSpPr/>
          <p:nvPr/>
        </p:nvSpPr>
        <p:spPr>
          <a:xfrm>
            <a:off x="548640" y="4114800"/>
            <a:ext cx="5943600" cy="320040"/>
          </a:xfrm>
          <a:prstGeom prst="rect">
            <a:avLst/>
          </a:prstGeom>
          <a:noFill/>
          <a:ln/>
        </p:spPr>
        <p:txBody>
          <a:bodyPr wrap="square" lIns="0" tIns="0" rIns="0" bIns="0" rtlCol="0" anchor="t"/>
          <a:lstStyle/>
          <a:p>
            <a:pPr indent="0" marL="0">
              <a:buNone/>
            </a:pPr>
            <a:r>
              <a:rPr lang="en-US" sz="1000" dirty="0">
                <a:solidFill>
                  <a:srgbClr val="52585B"/>
                </a:solidFill>
                <a:latin typeface="Courier New" pitchFamily="34" charset="0"/>
                <a:ea typeface="Courier New" pitchFamily="34" charset="-122"/>
                <a:cs typeface="Courier New" pitchFamily="34" charset="-120"/>
              </a:rPr>
              <a:t>Nuance 01 flagged it. Nuance 05 chose transfer over buy.</a:t>
            </a:r>
            <a:endParaRPr lang="en-US" sz="1000" dirty="0"/>
          </a:p>
        </p:txBody>
      </p:sp>
      <p:sp>
        <p:nvSpPr>
          <p:cNvPr id="10" name="Shape 7"/>
          <p:cNvSpPr/>
          <p:nvPr/>
        </p:nvSpPr>
        <p:spPr>
          <a:xfrm>
            <a:off x="7040880" y="2286000"/>
            <a:ext cx="4526280" cy="2871216"/>
          </a:xfrm>
          <a:prstGeom prst="rect">
            <a:avLst/>
          </a:prstGeom>
          <a:solidFill>
            <a:srgbClr val="EDEFEC"/>
          </a:solidFill>
          <a:ln/>
        </p:spPr>
      </p:sp>
      <p:sp>
        <p:nvSpPr>
          <p:cNvPr id="11" name="Text 8"/>
          <p:cNvSpPr/>
          <p:nvPr/>
        </p:nvSpPr>
        <p:spPr>
          <a:xfrm>
            <a:off x="7315200" y="2514600"/>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ON HAND</a:t>
            </a:r>
            <a:endParaRPr lang="en-US" sz="950" dirty="0"/>
          </a:p>
        </p:txBody>
      </p:sp>
      <p:sp>
        <p:nvSpPr>
          <p:cNvPr id="12" name="Text 9"/>
          <p:cNvSpPr/>
          <p:nvPr/>
        </p:nvSpPr>
        <p:spPr>
          <a:xfrm>
            <a:off x="9304020" y="2514600"/>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67</a:t>
            </a:r>
            <a:endParaRPr lang="en-US" sz="1200" dirty="0"/>
          </a:p>
        </p:txBody>
      </p:sp>
      <p:sp>
        <p:nvSpPr>
          <p:cNvPr id="13" name="Shape 10"/>
          <p:cNvSpPr/>
          <p:nvPr/>
        </p:nvSpPr>
        <p:spPr>
          <a:xfrm>
            <a:off x="7315200" y="2880360"/>
            <a:ext cx="3977640" cy="0"/>
          </a:xfrm>
          <a:prstGeom prst="line">
            <a:avLst/>
          </a:prstGeom>
          <a:noFill/>
          <a:ln w="9525">
            <a:solidFill>
              <a:srgbClr val="D8DBD6"/>
            </a:solidFill>
            <a:prstDash val="solid"/>
          </a:ln>
        </p:spPr>
      </p:sp>
      <p:sp>
        <p:nvSpPr>
          <p:cNvPr id="14" name="Text 11"/>
          <p:cNvSpPr/>
          <p:nvPr/>
        </p:nvSpPr>
        <p:spPr>
          <a:xfrm>
            <a:off x="7315200" y="2916936"/>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SAFETY STOCK</a:t>
            </a:r>
            <a:endParaRPr lang="en-US" sz="950" dirty="0"/>
          </a:p>
        </p:txBody>
      </p:sp>
      <p:sp>
        <p:nvSpPr>
          <p:cNvPr id="15" name="Text 12"/>
          <p:cNvSpPr/>
          <p:nvPr/>
        </p:nvSpPr>
        <p:spPr>
          <a:xfrm>
            <a:off x="9304020" y="2916936"/>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113</a:t>
            </a:r>
            <a:endParaRPr lang="en-US" sz="1200" dirty="0"/>
          </a:p>
        </p:txBody>
      </p:sp>
      <p:sp>
        <p:nvSpPr>
          <p:cNvPr id="16" name="Shape 13"/>
          <p:cNvSpPr/>
          <p:nvPr/>
        </p:nvSpPr>
        <p:spPr>
          <a:xfrm>
            <a:off x="7315200" y="3282696"/>
            <a:ext cx="3977640" cy="0"/>
          </a:xfrm>
          <a:prstGeom prst="line">
            <a:avLst/>
          </a:prstGeom>
          <a:noFill/>
          <a:ln w="9525">
            <a:solidFill>
              <a:srgbClr val="D8DBD6"/>
            </a:solidFill>
            <a:prstDash val="solid"/>
          </a:ln>
        </p:spPr>
      </p:sp>
      <p:sp>
        <p:nvSpPr>
          <p:cNvPr id="17" name="Text 14"/>
          <p:cNvSpPr/>
          <p:nvPr/>
        </p:nvSpPr>
        <p:spPr>
          <a:xfrm>
            <a:off x="7315200" y="3319272"/>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DAYS OF COVER</a:t>
            </a:r>
            <a:endParaRPr lang="en-US" sz="950" dirty="0"/>
          </a:p>
        </p:txBody>
      </p:sp>
      <p:sp>
        <p:nvSpPr>
          <p:cNvPr id="18" name="Text 15"/>
          <p:cNvSpPr/>
          <p:nvPr/>
        </p:nvSpPr>
        <p:spPr>
          <a:xfrm>
            <a:off x="9304020" y="3319272"/>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0.89</a:t>
            </a:r>
            <a:endParaRPr lang="en-US" sz="1200" dirty="0"/>
          </a:p>
        </p:txBody>
      </p:sp>
      <p:sp>
        <p:nvSpPr>
          <p:cNvPr id="19" name="Shape 16"/>
          <p:cNvSpPr/>
          <p:nvPr/>
        </p:nvSpPr>
        <p:spPr>
          <a:xfrm>
            <a:off x="7315200" y="3685032"/>
            <a:ext cx="3977640" cy="0"/>
          </a:xfrm>
          <a:prstGeom prst="line">
            <a:avLst/>
          </a:prstGeom>
          <a:noFill/>
          <a:ln w="9525">
            <a:solidFill>
              <a:srgbClr val="D8DBD6"/>
            </a:solidFill>
            <a:prstDash val="solid"/>
          </a:ln>
        </p:spPr>
      </p:sp>
      <p:sp>
        <p:nvSpPr>
          <p:cNvPr id="20" name="Text 17"/>
          <p:cNvSpPr/>
          <p:nvPr/>
        </p:nvSpPr>
        <p:spPr>
          <a:xfrm>
            <a:off x="7315200" y="3721608"/>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IF REJECTED, RIGHT</a:t>
            </a:r>
            <a:endParaRPr lang="en-US" sz="950" dirty="0"/>
          </a:p>
        </p:txBody>
      </p:sp>
      <p:sp>
        <p:nvSpPr>
          <p:cNvPr id="21" name="Text 18"/>
          <p:cNvSpPr/>
          <p:nvPr/>
        </p:nvSpPr>
        <p:spPr>
          <a:xfrm>
            <a:off x="9304020" y="3721608"/>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Rs 3,58,800 lost</a:t>
            </a:r>
            <a:endParaRPr lang="en-US" sz="1200" dirty="0"/>
          </a:p>
        </p:txBody>
      </p:sp>
      <p:sp>
        <p:nvSpPr>
          <p:cNvPr id="22" name="Shape 19"/>
          <p:cNvSpPr/>
          <p:nvPr/>
        </p:nvSpPr>
        <p:spPr>
          <a:xfrm>
            <a:off x="7315200" y="4087368"/>
            <a:ext cx="3977640" cy="0"/>
          </a:xfrm>
          <a:prstGeom prst="line">
            <a:avLst/>
          </a:prstGeom>
          <a:noFill/>
          <a:ln w="9525">
            <a:solidFill>
              <a:srgbClr val="D8DBD6"/>
            </a:solidFill>
            <a:prstDash val="solid"/>
          </a:ln>
        </p:spPr>
      </p:sp>
      <p:sp>
        <p:nvSpPr>
          <p:cNvPr id="23" name="Text 20"/>
          <p:cNvSpPr/>
          <p:nvPr/>
        </p:nvSpPr>
        <p:spPr>
          <a:xfrm>
            <a:off x="7315200" y="4123944"/>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IF APPROVED, WRONG</a:t>
            </a:r>
            <a:endParaRPr lang="en-US" sz="950" dirty="0"/>
          </a:p>
        </p:txBody>
      </p:sp>
      <p:sp>
        <p:nvSpPr>
          <p:cNvPr id="24" name="Text 21"/>
          <p:cNvSpPr/>
          <p:nvPr/>
        </p:nvSpPr>
        <p:spPr>
          <a:xfrm>
            <a:off x="9304020" y="4123944"/>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Rs 0 spent</a:t>
            </a:r>
            <a:endParaRPr lang="en-US" sz="1200" dirty="0"/>
          </a:p>
        </p:txBody>
      </p:sp>
      <p:sp>
        <p:nvSpPr>
          <p:cNvPr id="25" name="Shape 22"/>
          <p:cNvSpPr/>
          <p:nvPr/>
        </p:nvSpPr>
        <p:spPr>
          <a:xfrm>
            <a:off x="7315200" y="4489704"/>
            <a:ext cx="3977640" cy="0"/>
          </a:xfrm>
          <a:prstGeom prst="line">
            <a:avLst/>
          </a:prstGeom>
          <a:noFill/>
          <a:ln w="9525">
            <a:solidFill>
              <a:srgbClr val="D8DBD6"/>
            </a:solidFill>
            <a:prstDash val="solid"/>
          </a:ln>
        </p:spPr>
      </p:sp>
      <p:sp>
        <p:nvSpPr>
          <p:cNvPr id="26" name="Text 23"/>
          <p:cNvSpPr/>
          <p:nvPr/>
        </p:nvSpPr>
        <p:spPr>
          <a:xfrm>
            <a:off x="7315200" y="4526280"/>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DECISION VALUE</a:t>
            </a:r>
            <a:endParaRPr lang="en-US" sz="950" dirty="0"/>
          </a:p>
        </p:txBody>
      </p:sp>
      <p:sp>
        <p:nvSpPr>
          <p:cNvPr id="27" name="Text 24"/>
          <p:cNvSpPr/>
          <p:nvPr/>
        </p:nvSpPr>
        <p:spPr>
          <a:xfrm>
            <a:off x="9304020" y="4526280"/>
            <a:ext cx="1988820" cy="365760"/>
          </a:xfrm>
          <a:prstGeom prst="rect">
            <a:avLst/>
          </a:prstGeom>
          <a:noFill/>
          <a:ln/>
        </p:spPr>
        <p:txBody>
          <a:bodyPr wrap="square" lIns="0" tIns="0" rIns="0" bIns="0" rtlCol="0" anchor="ctr"/>
          <a:lstStyle/>
          <a:p>
            <a:pPr algn="r" indent="0" marL="0">
              <a:buNone/>
            </a:pPr>
            <a:r>
              <a:rPr lang="en-US" sz="1200" b="1" dirty="0">
                <a:solidFill>
                  <a:srgbClr val="8F6A1E"/>
                </a:solidFill>
                <a:latin typeface="Courier New" pitchFamily="34" charset="0"/>
                <a:ea typeface="Courier New" pitchFamily="34" charset="-122"/>
                <a:cs typeface="Courier New" pitchFamily="34" charset="-120"/>
              </a:rPr>
              <a:t>Rs 3,48,036</a:t>
            </a:r>
            <a:endParaRPr lang="en-US" sz="1200" dirty="0"/>
          </a:p>
        </p:txBody>
      </p:sp>
      <p:sp>
        <p:nvSpPr>
          <p:cNvPr id="28" name="Shape 25"/>
          <p:cNvSpPr/>
          <p:nvPr/>
        </p:nvSpPr>
        <p:spPr>
          <a:xfrm>
            <a:off x="7315200" y="4892040"/>
            <a:ext cx="3977640" cy="0"/>
          </a:xfrm>
          <a:prstGeom prst="line">
            <a:avLst/>
          </a:prstGeom>
          <a:noFill/>
          <a:ln w="9525">
            <a:solidFill>
              <a:srgbClr val="D8DBD6"/>
            </a:solidFill>
            <a:prstDash val="solid"/>
          </a:ln>
        </p:spPr>
      </p:sp>
      <p:sp>
        <p:nvSpPr>
          <p:cNvPr id="29" name="Text 26"/>
          <p:cNvSpPr/>
          <p:nvPr/>
        </p:nvSpPr>
        <p:spPr>
          <a:xfrm>
            <a:off x="548640" y="5760720"/>
            <a:ext cx="5486400" cy="274320"/>
          </a:xfrm>
          <a:prstGeom prst="rect">
            <a:avLst/>
          </a:prstGeom>
          <a:noFill/>
          <a:ln/>
        </p:spPr>
        <p:txBody>
          <a:bodyPr wrap="square" lIns="0" tIns="0" rIns="0" bIns="0" rtlCol="0" anchor="t"/>
          <a:lstStyle/>
          <a:p>
            <a:pPr indent="0" marL="0">
              <a:buNone/>
            </a:pPr>
            <a:r>
              <a:rPr lang="en-US" sz="950" dirty="0">
                <a:solidFill>
                  <a:srgbClr val="52585B"/>
                </a:solidFill>
                <a:latin typeface="Courier New" pitchFamily="34" charset="0"/>
                <a:ea typeface="Courier New" pitchFamily="34" charset="-122"/>
                <a:cs typeface="Courier New" pitchFamily="34" charset="-120"/>
              </a:rPr>
              <a:t>Quote QT-20260903-D933BD</a:t>
            </a:r>
            <a:endParaRPr lang="en-US" sz="950" dirty="0"/>
          </a:p>
        </p:txBody>
      </p:sp>
      <p:sp>
        <p:nvSpPr>
          <p:cNvPr id="30" name="Text 27"/>
          <p:cNvSpPr/>
          <p:nvPr/>
        </p:nvSpPr>
        <p:spPr>
          <a:xfrm>
            <a:off x="548640" y="6473952"/>
            <a:ext cx="7315200" cy="274320"/>
          </a:xfrm>
          <a:prstGeom prst="rect">
            <a:avLst/>
          </a:prstGeom>
          <a:noFill/>
          <a:ln/>
        </p:spPr>
        <p:txBody>
          <a:bodyPr wrap="square" lIns="0" tIns="0" rIns="0" bIns="0" rtlCol="0" anchor="ctr"/>
          <a:lstStyle/>
          <a:p>
            <a:pPr indent="0" marL="0">
              <a:buNone/>
            </a:pPr>
            <a:r>
              <a:rPr lang="en-US" sz="850" b="1" spc="100" kern="0" dirty="0">
                <a:solidFill>
                  <a:srgbClr val="52585B"/>
                </a:solidFill>
                <a:latin typeface="Calibri" pitchFamily="34" charset="0"/>
                <a:ea typeface="Calibri" pitchFamily="34" charset="-122"/>
                <a:cs typeface="Calibri" pitchFamily="34" charset="-120"/>
              </a:rPr>
              <a:t>MANUFACTURING INVENTORY INTELLIGENCE</a:t>
            </a:r>
            <a:endParaRPr lang="en-US" sz="850" dirty="0"/>
          </a:p>
        </p:txBody>
      </p:sp>
      <p:sp>
        <p:nvSpPr>
          <p:cNvPr id="31" name="Text 28"/>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52585B"/>
                </a:solidFill>
                <a:latin typeface="Courier New" pitchFamily="34" charset="0"/>
                <a:ea typeface="Courier New" pitchFamily="34" charset="-122"/>
                <a:cs typeface="Courier New" pitchFamily="34" charset="-120"/>
              </a:rPr>
              <a:t>05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457200" cy="457200"/>
          </a:xfrm>
          <a:prstGeom prst="roundRect">
            <a:avLst>
              <a:gd name="adj" fmla="val 14000"/>
            </a:avLst>
          </a:prstGeom>
          <a:solidFill>
            <a:srgbClr val="B85C24"/>
          </a:solidFill>
          <a:ln/>
        </p:spPr>
      </p:sp>
      <p:pic>
        <p:nvPicPr>
          <p:cNvPr id="3" name="Image 0" descr="/tmp/claude-1000/-home-anurag-r-work-agentbrick-works-restock-agent/2dd0bea3-cfe1-43a1-8644-31ec55874190/scratchpad/deck/assets/bag.png">    </p:cNvPr>
          <p:cNvPicPr>
            <a:picLocks noChangeAspect="1"/>
          </p:cNvPicPr>
          <p:nvPr/>
        </p:nvPicPr>
        <p:blipFill>
          <a:blip r:embed="rId1"/>
          <a:stretch>
            <a:fillRect/>
          </a:stretch>
        </p:blipFill>
        <p:spPr>
          <a:xfrm>
            <a:off x="658368" y="658368"/>
            <a:ext cx="237744" cy="237744"/>
          </a:xfrm>
          <a:prstGeom prst="rect">
            <a:avLst/>
          </a:prstGeom>
        </p:spPr>
      </p:pic>
      <p:sp>
        <p:nvSpPr>
          <p:cNvPr id="4" name="Shape 1"/>
          <p:cNvSpPr/>
          <p:nvPr/>
        </p:nvSpPr>
        <p:spPr>
          <a:xfrm>
            <a:off x="1170432" y="658368"/>
            <a:ext cx="3200400" cy="292608"/>
          </a:xfrm>
          <a:prstGeom prst="roundRect">
            <a:avLst>
              <a:gd name="adj" fmla="val 50000"/>
            </a:avLst>
          </a:prstGeom>
          <a:solidFill>
            <a:srgbClr val="FFFFFF"/>
          </a:solidFill>
          <a:ln w="12700">
            <a:solidFill>
              <a:srgbClr val="B85C24"/>
            </a:solidFill>
            <a:prstDash val="solid"/>
          </a:ln>
        </p:spPr>
      </p:sp>
      <p:sp>
        <p:nvSpPr>
          <p:cNvPr id="5" name="Text 2"/>
          <p:cNvSpPr/>
          <p:nvPr/>
        </p:nvSpPr>
        <p:spPr>
          <a:xfrm>
            <a:off x="1170432" y="658368"/>
            <a:ext cx="3200400" cy="292608"/>
          </a:xfrm>
          <a:prstGeom prst="rect">
            <a:avLst/>
          </a:prstGeom>
          <a:noFill/>
          <a:ln/>
        </p:spPr>
        <p:txBody>
          <a:bodyPr wrap="square" lIns="0" tIns="0" rIns="0" bIns="0" rtlCol="0" anchor="ctr"/>
          <a:lstStyle/>
          <a:p>
            <a:pPr algn="ctr" indent="0" marL="0">
              <a:buNone/>
            </a:pPr>
            <a:r>
              <a:rPr lang="en-US" sz="900" dirty="0">
                <a:solidFill>
                  <a:srgbClr val="B85C24"/>
                </a:solidFill>
                <a:latin typeface="Courier New" pitchFamily="34" charset="0"/>
                <a:ea typeface="Courier New" pitchFamily="34" charset="-122"/>
                <a:cs typeface="Courier New" pitchFamily="34" charset="-120"/>
              </a:rPr>
              <a:t>LIVE · REAL PRODUCTION RUN</a:t>
            </a:r>
            <a:endParaRPr lang="en-US" sz="900" dirty="0"/>
          </a:p>
        </p:txBody>
      </p:sp>
      <p:sp>
        <p:nvSpPr>
          <p:cNvPr id="6" name="Text 3"/>
          <p:cNvSpPr/>
          <p:nvPr/>
        </p:nvSpPr>
        <p:spPr>
          <a:xfrm>
            <a:off x="548640" y="1234440"/>
            <a:ext cx="8686800" cy="548640"/>
          </a:xfrm>
          <a:prstGeom prst="rect">
            <a:avLst/>
          </a:prstGeom>
          <a:noFill/>
          <a:ln/>
        </p:spPr>
        <p:txBody>
          <a:bodyPr wrap="square" lIns="0" tIns="0" rIns="0" bIns="0" rtlCol="0" anchor="t"/>
          <a:lstStyle/>
          <a:p>
            <a:pPr indent="0" marL="0">
              <a:buNone/>
            </a:pPr>
            <a:r>
              <a:rPr lang="en-US" sz="2900" b="1" dirty="0">
                <a:solidFill>
                  <a:srgbClr val="1B1E20"/>
                </a:solidFill>
                <a:latin typeface="Arial" pitchFamily="34" charset="0"/>
                <a:ea typeface="Arial" pitchFamily="34" charset="-122"/>
                <a:cs typeface="Arial" pitchFamily="34" charset="-120"/>
              </a:rPr>
              <a:t>Buy 150 units of P1015</a:t>
            </a:r>
            <a:endParaRPr lang="en-US" sz="2900" dirty="0"/>
          </a:p>
        </p:txBody>
      </p:sp>
      <p:sp>
        <p:nvSpPr>
          <p:cNvPr id="7" name="Text 4"/>
          <p:cNvSpPr/>
          <p:nvPr/>
        </p:nvSpPr>
        <p:spPr>
          <a:xfrm>
            <a:off x="548640" y="1810512"/>
            <a:ext cx="5486400" cy="320040"/>
          </a:xfrm>
          <a:prstGeom prst="rect">
            <a:avLst/>
          </a:prstGeom>
          <a:noFill/>
          <a:ln/>
        </p:spPr>
        <p:txBody>
          <a:bodyPr wrap="square" lIns="0" tIns="0" rIns="0" bIns="0" rtlCol="0" anchor="t"/>
          <a:lstStyle/>
          <a:p>
            <a:pPr indent="0" marL="0">
              <a:buNone/>
            </a:pPr>
            <a:r>
              <a:rPr lang="en-US" sz="1400" b="1" dirty="0">
                <a:solidFill>
                  <a:srgbClr val="B85C24"/>
                </a:solidFill>
                <a:latin typeface="Courier New" pitchFamily="34" charset="0"/>
                <a:ea typeface="Courier New" pitchFamily="34" charset="-122"/>
                <a:cs typeface="Courier New" pitchFamily="34" charset="-120"/>
              </a:rPr>
              <a:t>From SUP-040, for WH-026</a:t>
            </a:r>
            <a:endParaRPr lang="en-US" sz="1400" dirty="0"/>
          </a:p>
        </p:txBody>
      </p:sp>
      <p:sp>
        <p:nvSpPr>
          <p:cNvPr id="8" name="Text 5"/>
          <p:cNvSpPr/>
          <p:nvPr/>
        </p:nvSpPr>
        <p:spPr>
          <a:xfrm>
            <a:off x="548640" y="2468880"/>
            <a:ext cx="5943600" cy="1463040"/>
          </a:xfrm>
          <a:prstGeom prst="rect">
            <a:avLst/>
          </a:prstGeom>
          <a:noFill/>
          <a:ln/>
        </p:spPr>
        <p:txBody>
          <a:bodyPr wrap="square" lIns="0" tIns="0" rIns="0" bIns="0" rtlCol="0" anchor="t"/>
          <a:lstStyle/>
          <a:p>
            <a:pPr indent="0" marL="0">
              <a:lnSpc>
                <a:spcPct val="135000"/>
              </a:lnSpc>
              <a:buNone/>
            </a:pPr>
            <a:r>
              <a:rPr lang="en-US" sz="1400" dirty="0">
                <a:solidFill>
                  <a:srgbClr val="52585B"/>
                </a:solidFill>
                <a:latin typeface="Calibri" pitchFamily="34" charset="0"/>
                <a:ea typeface="Calibri" pitchFamily="34" charset="-122"/>
                <a:cs typeface="Calibri" pitchFamily="34" charset="-120"/>
              </a:rPr>
              <a:t>128 on hand against a 31-unit safety stock — comfortably stocked, invisible to a reorder-point check. But it feeds assembly P1002, and the shortage blocks 125 parent units within 29 days.</a:t>
            </a:r>
            <a:endParaRPr lang="en-US" sz="1400" dirty="0"/>
          </a:p>
        </p:txBody>
      </p:sp>
      <p:sp>
        <p:nvSpPr>
          <p:cNvPr id="9" name="Text 6"/>
          <p:cNvSpPr/>
          <p:nvPr/>
        </p:nvSpPr>
        <p:spPr>
          <a:xfrm>
            <a:off x="548640" y="4114800"/>
            <a:ext cx="5943600" cy="320040"/>
          </a:xfrm>
          <a:prstGeom prst="rect">
            <a:avLst/>
          </a:prstGeom>
          <a:noFill/>
          <a:ln/>
        </p:spPr>
        <p:txBody>
          <a:bodyPr wrap="square" lIns="0" tIns="0" rIns="0" bIns="0" rtlCol="0" anchor="t"/>
          <a:lstStyle/>
          <a:p>
            <a:pPr indent="0" marL="0">
              <a:buNone/>
            </a:pPr>
            <a:r>
              <a:rPr lang="en-US" sz="1000" dirty="0">
                <a:solidFill>
                  <a:srgbClr val="52585B"/>
                </a:solidFill>
                <a:latin typeface="Courier New" pitchFamily="34" charset="0"/>
                <a:ea typeface="Courier New" pitchFamily="34" charset="-122"/>
                <a:cs typeface="Courier New" pitchFamily="34" charset="-120"/>
              </a:rPr>
              <a:t>Nuance 06 is the only one that would have flagged this part at all.</a:t>
            </a:r>
            <a:endParaRPr lang="en-US" sz="1000" dirty="0"/>
          </a:p>
        </p:txBody>
      </p:sp>
      <p:sp>
        <p:nvSpPr>
          <p:cNvPr id="10" name="Text 7"/>
          <p:cNvSpPr/>
          <p:nvPr/>
        </p:nvSpPr>
        <p:spPr>
          <a:xfrm>
            <a:off x="548640" y="4663440"/>
            <a:ext cx="5943600" cy="640080"/>
          </a:xfrm>
          <a:prstGeom prst="rect">
            <a:avLst/>
          </a:prstGeom>
          <a:noFill/>
          <a:ln/>
        </p:spPr>
        <p:txBody>
          <a:bodyPr wrap="square" lIns="0" tIns="0" rIns="0" bIns="0" rtlCol="0" anchor="t"/>
          <a:lstStyle/>
          <a:p>
            <a:pPr indent="0" marL="0">
              <a:lnSpc>
                <a:spcPct val="130000"/>
              </a:lnSpc>
              <a:buNone/>
            </a:pPr>
            <a:r>
              <a:rPr lang="en-US" sz="1150" i="1" dirty="0">
                <a:solidFill>
                  <a:srgbClr val="52585B"/>
                </a:solidFill>
                <a:latin typeface="Calibri" pitchFamily="34" charset="0"/>
                <a:ea typeface="Calibri" pitchFamily="34" charset="-122"/>
                <a:cs typeface="Calibri" pitchFamily="34" charset="-120"/>
              </a:rPr>
              <a:t>150 × Rs 3,400 = Rs 5,10,000, plus Rs 1,700 holding = Rs 5,11,700 — the arithmetic, not a rounded estimate.</a:t>
            </a:r>
            <a:endParaRPr lang="en-US" sz="1150" dirty="0"/>
          </a:p>
        </p:txBody>
      </p:sp>
      <p:sp>
        <p:nvSpPr>
          <p:cNvPr id="11" name="Shape 8"/>
          <p:cNvSpPr/>
          <p:nvPr/>
        </p:nvSpPr>
        <p:spPr>
          <a:xfrm>
            <a:off x="7040880" y="2286000"/>
            <a:ext cx="4526280" cy="2871216"/>
          </a:xfrm>
          <a:prstGeom prst="rect">
            <a:avLst/>
          </a:prstGeom>
          <a:solidFill>
            <a:srgbClr val="EDEFEC"/>
          </a:solidFill>
          <a:ln/>
        </p:spPr>
      </p:sp>
      <p:sp>
        <p:nvSpPr>
          <p:cNvPr id="12" name="Text 9"/>
          <p:cNvSpPr/>
          <p:nvPr/>
        </p:nvSpPr>
        <p:spPr>
          <a:xfrm>
            <a:off x="7315200" y="2514600"/>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ON HAND (P1015)</a:t>
            </a:r>
            <a:endParaRPr lang="en-US" sz="950" dirty="0"/>
          </a:p>
        </p:txBody>
      </p:sp>
      <p:sp>
        <p:nvSpPr>
          <p:cNvPr id="13" name="Text 10"/>
          <p:cNvSpPr/>
          <p:nvPr/>
        </p:nvSpPr>
        <p:spPr>
          <a:xfrm>
            <a:off x="9304020" y="2514600"/>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128</a:t>
            </a:r>
            <a:endParaRPr lang="en-US" sz="1200" dirty="0"/>
          </a:p>
        </p:txBody>
      </p:sp>
      <p:sp>
        <p:nvSpPr>
          <p:cNvPr id="14" name="Shape 11"/>
          <p:cNvSpPr/>
          <p:nvPr/>
        </p:nvSpPr>
        <p:spPr>
          <a:xfrm>
            <a:off x="7315200" y="2880360"/>
            <a:ext cx="3977640" cy="0"/>
          </a:xfrm>
          <a:prstGeom prst="line">
            <a:avLst/>
          </a:prstGeom>
          <a:noFill/>
          <a:ln w="9525">
            <a:solidFill>
              <a:srgbClr val="D8DBD6"/>
            </a:solidFill>
            <a:prstDash val="solid"/>
          </a:ln>
        </p:spPr>
      </p:sp>
      <p:sp>
        <p:nvSpPr>
          <p:cNvPr id="15" name="Text 12"/>
          <p:cNvSpPr/>
          <p:nvPr/>
        </p:nvSpPr>
        <p:spPr>
          <a:xfrm>
            <a:off x="7315200" y="2916936"/>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SAFETY STOCK</a:t>
            </a:r>
            <a:endParaRPr lang="en-US" sz="950" dirty="0"/>
          </a:p>
        </p:txBody>
      </p:sp>
      <p:sp>
        <p:nvSpPr>
          <p:cNvPr id="16" name="Text 13"/>
          <p:cNvSpPr/>
          <p:nvPr/>
        </p:nvSpPr>
        <p:spPr>
          <a:xfrm>
            <a:off x="9304020" y="2916936"/>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31</a:t>
            </a:r>
            <a:endParaRPr lang="en-US" sz="1200" dirty="0"/>
          </a:p>
        </p:txBody>
      </p:sp>
      <p:sp>
        <p:nvSpPr>
          <p:cNvPr id="17" name="Shape 14"/>
          <p:cNvSpPr/>
          <p:nvPr/>
        </p:nvSpPr>
        <p:spPr>
          <a:xfrm>
            <a:off x="7315200" y="3282696"/>
            <a:ext cx="3977640" cy="0"/>
          </a:xfrm>
          <a:prstGeom prst="line">
            <a:avLst/>
          </a:prstGeom>
          <a:noFill/>
          <a:ln w="9525">
            <a:solidFill>
              <a:srgbClr val="D8DBD6"/>
            </a:solidFill>
            <a:prstDash val="solid"/>
          </a:ln>
        </p:spPr>
      </p:sp>
      <p:sp>
        <p:nvSpPr>
          <p:cNvPr id="18" name="Text 15"/>
          <p:cNvSpPr/>
          <p:nvPr/>
        </p:nvSpPr>
        <p:spPr>
          <a:xfrm>
            <a:off x="7315200" y="3319272"/>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PARENT UNITS BLOCKED</a:t>
            </a:r>
            <a:endParaRPr lang="en-US" sz="950" dirty="0"/>
          </a:p>
        </p:txBody>
      </p:sp>
      <p:sp>
        <p:nvSpPr>
          <p:cNvPr id="19" name="Text 16"/>
          <p:cNvSpPr/>
          <p:nvPr/>
        </p:nvSpPr>
        <p:spPr>
          <a:xfrm>
            <a:off x="9304020" y="3319272"/>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125</a:t>
            </a:r>
            <a:endParaRPr lang="en-US" sz="1200" dirty="0"/>
          </a:p>
        </p:txBody>
      </p:sp>
      <p:sp>
        <p:nvSpPr>
          <p:cNvPr id="20" name="Shape 17"/>
          <p:cNvSpPr/>
          <p:nvPr/>
        </p:nvSpPr>
        <p:spPr>
          <a:xfrm>
            <a:off x="7315200" y="3685032"/>
            <a:ext cx="3977640" cy="0"/>
          </a:xfrm>
          <a:prstGeom prst="line">
            <a:avLst/>
          </a:prstGeom>
          <a:noFill/>
          <a:ln w="9525">
            <a:solidFill>
              <a:srgbClr val="D8DBD6"/>
            </a:solidFill>
            <a:prstDash val="solid"/>
          </a:ln>
        </p:spPr>
      </p:sp>
      <p:sp>
        <p:nvSpPr>
          <p:cNvPr id="21" name="Text 18"/>
          <p:cNvSpPr/>
          <p:nvPr/>
        </p:nvSpPr>
        <p:spPr>
          <a:xfrm>
            <a:off x="7315200" y="3721608"/>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IF REJECTED, RIGHT</a:t>
            </a:r>
            <a:endParaRPr lang="en-US" sz="950" dirty="0"/>
          </a:p>
        </p:txBody>
      </p:sp>
      <p:sp>
        <p:nvSpPr>
          <p:cNvPr id="22" name="Text 19"/>
          <p:cNvSpPr/>
          <p:nvPr/>
        </p:nvSpPr>
        <p:spPr>
          <a:xfrm>
            <a:off x="9304020" y="3721608"/>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Rs 1,56,25,000 lost</a:t>
            </a:r>
            <a:endParaRPr lang="en-US" sz="1200" dirty="0"/>
          </a:p>
        </p:txBody>
      </p:sp>
      <p:sp>
        <p:nvSpPr>
          <p:cNvPr id="23" name="Shape 20"/>
          <p:cNvSpPr/>
          <p:nvPr/>
        </p:nvSpPr>
        <p:spPr>
          <a:xfrm>
            <a:off x="7315200" y="4087368"/>
            <a:ext cx="3977640" cy="0"/>
          </a:xfrm>
          <a:prstGeom prst="line">
            <a:avLst/>
          </a:prstGeom>
          <a:noFill/>
          <a:ln w="9525">
            <a:solidFill>
              <a:srgbClr val="D8DBD6"/>
            </a:solidFill>
            <a:prstDash val="solid"/>
          </a:ln>
        </p:spPr>
      </p:sp>
      <p:sp>
        <p:nvSpPr>
          <p:cNvPr id="24" name="Text 21"/>
          <p:cNvSpPr/>
          <p:nvPr/>
        </p:nvSpPr>
        <p:spPr>
          <a:xfrm>
            <a:off x="7315200" y="4123944"/>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IF APPROVED, WRONG</a:t>
            </a:r>
            <a:endParaRPr lang="en-US" sz="950" dirty="0"/>
          </a:p>
        </p:txBody>
      </p:sp>
      <p:sp>
        <p:nvSpPr>
          <p:cNvPr id="25" name="Text 22"/>
          <p:cNvSpPr/>
          <p:nvPr/>
        </p:nvSpPr>
        <p:spPr>
          <a:xfrm>
            <a:off x="9304020" y="4123944"/>
            <a:ext cx="1988820" cy="365760"/>
          </a:xfrm>
          <a:prstGeom prst="rect">
            <a:avLst/>
          </a:prstGeom>
          <a:noFill/>
          <a:ln/>
        </p:spPr>
        <p:txBody>
          <a:bodyPr wrap="square" lIns="0" tIns="0" rIns="0" bIns="0" rtlCol="0" anchor="ctr"/>
          <a:lstStyle/>
          <a:p>
            <a:pPr algn="r" indent="0" marL="0">
              <a:buNone/>
            </a:pPr>
            <a:r>
              <a:rPr lang="en-US" sz="1200" b="1" dirty="0">
                <a:solidFill>
                  <a:srgbClr val="1B1E20"/>
                </a:solidFill>
                <a:latin typeface="Courier New" pitchFamily="34" charset="0"/>
                <a:ea typeface="Courier New" pitchFamily="34" charset="-122"/>
                <a:cs typeface="Courier New" pitchFamily="34" charset="-120"/>
              </a:rPr>
              <a:t>Rs 5,11,700 spent</a:t>
            </a:r>
            <a:endParaRPr lang="en-US" sz="1200" dirty="0"/>
          </a:p>
        </p:txBody>
      </p:sp>
      <p:sp>
        <p:nvSpPr>
          <p:cNvPr id="26" name="Shape 23"/>
          <p:cNvSpPr/>
          <p:nvPr/>
        </p:nvSpPr>
        <p:spPr>
          <a:xfrm>
            <a:off x="7315200" y="4489704"/>
            <a:ext cx="3977640" cy="0"/>
          </a:xfrm>
          <a:prstGeom prst="line">
            <a:avLst/>
          </a:prstGeom>
          <a:noFill/>
          <a:ln w="9525">
            <a:solidFill>
              <a:srgbClr val="D8DBD6"/>
            </a:solidFill>
            <a:prstDash val="solid"/>
          </a:ln>
        </p:spPr>
      </p:sp>
      <p:sp>
        <p:nvSpPr>
          <p:cNvPr id="27" name="Text 24"/>
          <p:cNvSpPr/>
          <p:nvPr/>
        </p:nvSpPr>
        <p:spPr>
          <a:xfrm>
            <a:off x="7315200" y="4526280"/>
            <a:ext cx="2068373" cy="365760"/>
          </a:xfrm>
          <a:prstGeom prst="rect">
            <a:avLst/>
          </a:prstGeom>
          <a:noFill/>
          <a:ln/>
        </p:spPr>
        <p:txBody>
          <a:bodyPr wrap="square" lIns="0" tIns="0" rIns="0" bIns="0" rtlCol="0" anchor="ctr"/>
          <a:lstStyle/>
          <a:p>
            <a:pPr indent="0" marL="0">
              <a:buNone/>
            </a:pPr>
            <a:r>
              <a:rPr lang="en-US" sz="950" dirty="0">
                <a:solidFill>
                  <a:srgbClr val="52585B"/>
                </a:solidFill>
                <a:latin typeface="Courier New" pitchFamily="34" charset="0"/>
                <a:ea typeface="Courier New" pitchFamily="34" charset="-122"/>
                <a:cs typeface="Courier New" pitchFamily="34" charset="-120"/>
              </a:rPr>
              <a:t>DECISION VALUE</a:t>
            </a:r>
            <a:endParaRPr lang="en-US" sz="950" dirty="0"/>
          </a:p>
        </p:txBody>
      </p:sp>
      <p:sp>
        <p:nvSpPr>
          <p:cNvPr id="28" name="Text 25"/>
          <p:cNvSpPr/>
          <p:nvPr/>
        </p:nvSpPr>
        <p:spPr>
          <a:xfrm>
            <a:off x="9304020" y="4526280"/>
            <a:ext cx="1988820" cy="365760"/>
          </a:xfrm>
          <a:prstGeom prst="rect">
            <a:avLst/>
          </a:prstGeom>
          <a:noFill/>
          <a:ln/>
        </p:spPr>
        <p:txBody>
          <a:bodyPr wrap="square" lIns="0" tIns="0" rIns="0" bIns="0" rtlCol="0" anchor="ctr"/>
          <a:lstStyle/>
          <a:p>
            <a:pPr algn="r" indent="0" marL="0">
              <a:buNone/>
            </a:pPr>
            <a:r>
              <a:rPr lang="en-US" sz="1200" b="1" dirty="0">
                <a:solidFill>
                  <a:srgbClr val="8F6A1E"/>
                </a:solidFill>
                <a:latin typeface="Courier New" pitchFamily="34" charset="0"/>
                <a:ea typeface="Courier New" pitchFamily="34" charset="-122"/>
                <a:cs typeface="Courier New" pitchFamily="34" charset="-120"/>
              </a:rPr>
              <a:t>Rs 1,25,41,956</a:t>
            </a:r>
            <a:endParaRPr lang="en-US" sz="1200" dirty="0"/>
          </a:p>
        </p:txBody>
      </p:sp>
      <p:sp>
        <p:nvSpPr>
          <p:cNvPr id="29" name="Shape 26"/>
          <p:cNvSpPr/>
          <p:nvPr/>
        </p:nvSpPr>
        <p:spPr>
          <a:xfrm>
            <a:off x="7315200" y="4892040"/>
            <a:ext cx="3977640" cy="0"/>
          </a:xfrm>
          <a:prstGeom prst="line">
            <a:avLst/>
          </a:prstGeom>
          <a:noFill/>
          <a:ln w="9525">
            <a:solidFill>
              <a:srgbClr val="D8DBD6"/>
            </a:solidFill>
            <a:prstDash val="solid"/>
          </a:ln>
        </p:spPr>
      </p:sp>
      <p:sp>
        <p:nvSpPr>
          <p:cNvPr id="30" name="Text 27"/>
          <p:cNvSpPr/>
          <p:nvPr/>
        </p:nvSpPr>
        <p:spPr>
          <a:xfrm>
            <a:off x="548640" y="5760720"/>
            <a:ext cx="5486400" cy="274320"/>
          </a:xfrm>
          <a:prstGeom prst="rect">
            <a:avLst/>
          </a:prstGeom>
          <a:noFill/>
          <a:ln/>
        </p:spPr>
        <p:txBody>
          <a:bodyPr wrap="square" lIns="0" tIns="0" rIns="0" bIns="0" rtlCol="0" anchor="t"/>
          <a:lstStyle/>
          <a:p>
            <a:pPr indent="0" marL="0">
              <a:buNone/>
            </a:pPr>
            <a:r>
              <a:rPr lang="en-US" sz="950" dirty="0">
                <a:solidFill>
                  <a:srgbClr val="52585B"/>
                </a:solidFill>
                <a:latin typeface="Courier New" pitchFamily="34" charset="0"/>
                <a:ea typeface="Courier New" pitchFamily="34" charset="-122"/>
                <a:cs typeface="Courier New" pitchFamily="34" charset="-120"/>
              </a:rPr>
              <a:t>Quote QT-20260902-E85CF4, candidate 2 of 2</a:t>
            </a:r>
            <a:endParaRPr lang="en-US" sz="950" dirty="0"/>
          </a:p>
        </p:txBody>
      </p:sp>
      <p:sp>
        <p:nvSpPr>
          <p:cNvPr id="31" name="Text 28"/>
          <p:cNvSpPr/>
          <p:nvPr/>
        </p:nvSpPr>
        <p:spPr>
          <a:xfrm>
            <a:off x="548640" y="6473952"/>
            <a:ext cx="7315200" cy="274320"/>
          </a:xfrm>
          <a:prstGeom prst="rect">
            <a:avLst/>
          </a:prstGeom>
          <a:noFill/>
          <a:ln/>
        </p:spPr>
        <p:txBody>
          <a:bodyPr wrap="square" lIns="0" tIns="0" rIns="0" bIns="0" rtlCol="0" anchor="ctr"/>
          <a:lstStyle/>
          <a:p>
            <a:pPr indent="0" marL="0">
              <a:buNone/>
            </a:pPr>
            <a:r>
              <a:rPr lang="en-US" sz="850" b="1" spc="100" kern="0" dirty="0">
                <a:solidFill>
                  <a:srgbClr val="52585B"/>
                </a:solidFill>
                <a:latin typeface="Calibri" pitchFamily="34" charset="0"/>
                <a:ea typeface="Calibri" pitchFamily="34" charset="-122"/>
                <a:cs typeface="Calibri" pitchFamily="34" charset="-120"/>
              </a:rPr>
              <a:t>MANUFACTURING INVENTORY INTELLIGENCE</a:t>
            </a:r>
            <a:endParaRPr lang="en-US" sz="850" dirty="0"/>
          </a:p>
        </p:txBody>
      </p:sp>
      <p:sp>
        <p:nvSpPr>
          <p:cNvPr id="32" name="Text 29"/>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52585B"/>
                </a:solidFill>
                <a:latin typeface="Courier New" pitchFamily="34" charset="0"/>
                <a:ea typeface="Courier New" pitchFamily="34" charset="-122"/>
                <a:cs typeface="Courier New" pitchFamily="34" charset="-120"/>
              </a:rPr>
              <a:t>06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0515600" cy="777240"/>
          </a:xfrm>
          <a:prstGeom prst="rect">
            <a:avLst/>
          </a:prstGeom>
          <a:noFill/>
          <a:ln/>
        </p:spPr>
        <p:txBody>
          <a:bodyPr wrap="square" lIns="0" tIns="0" rIns="0" bIns="0" rtlCol="0" anchor="t"/>
          <a:lstStyle/>
          <a:p>
            <a:pPr indent="0" marL="0">
              <a:buNone/>
            </a:pPr>
            <a:r>
              <a:rPr lang="en-US" sz="3200" b="1" dirty="0">
                <a:solidFill>
                  <a:srgbClr val="1B1E20"/>
                </a:solidFill>
                <a:latin typeface="Arial" pitchFamily="34" charset="0"/>
                <a:ea typeface="Arial" pitchFamily="34" charset="-122"/>
                <a:cs typeface="Arial" pitchFamily="34" charset="-120"/>
              </a:rPr>
              <a:t>Built to be checked, not trusted blindly.</a:t>
            </a:r>
            <a:endParaRPr lang="en-US" sz="3200" dirty="0"/>
          </a:p>
        </p:txBody>
      </p:sp>
      <p:sp>
        <p:nvSpPr>
          <p:cNvPr id="3" name="Shape 1"/>
          <p:cNvSpPr/>
          <p:nvPr/>
        </p:nvSpPr>
        <p:spPr>
          <a:xfrm>
            <a:off x="548640" y="1965960"/>
            <a:ext cx="548640" cy="548640"/>
          </a:xfrm>
          <a:prstGeom prst="roundRect">
            <a:avLst>
              <a:gd name="adj" fmla="val 11667"/>
            </a:avLst>
          </a:prstGeom>
          <a:solidFill>
            <a:srgbClr val="2E6580"/>
          </a:solidFill>
          <a:ln/>
        </p:spPr>
      </p:sp>
      <p:pic>
        <p:nvPicPr>
          <p:cNvPr id="4" name="Image 0" descr="/tmp/claude-1000/-home-anurag-r-work-agentbrick-works-restock-agent/2dd0bea3-cfe1-43a1-8644-31ec55874190/scratchpad/deck/assets/search.png">    </p:cNvPr>
          <p:cNvPicPr>
            <a:picLocks noChangeAspect="1"/>
          </p:cNvPicPr>
          <p:nvPr/>
        </p:nvPicPr>
        <p:blipFill>
          <a:blip r:embed="rId1"/>
          <a:stretch>
            <a:fillRect/>
          </a:stretch>
        </p:blipFill>
        <p:spPr>
          <a:xfrm>
            <a:off x="680314" y="2097634"/>
            <a:ext cx="285293" cy="285293"/>
          </a:xfrm>
          <a:prstGeom prst="rect">
            <a:avLst/>
          </a:prstGeom>
        </p:spPr>
      </p:pic>
      <p:sp>
        <p:nvSpPr>
          <p:cNvPr id="5" name="Text 2"/>
          <p:cNvSpPr/>
          <p:nvPr/>
        </p:nvSpPr>
        <p:spPr>
          <a:xfrm>
            <a:off x="548640" y="2697480"/>
            <a:ext cx="3429000" cy="384048"/>
          </a:xfrm>
          <a:prstGeom prst="rect">
            <a:avLst/>
          </a:prstGeom>
          <a:noFill/>
          <a:ln/>
        </p:spPr>
        <p:txBody>
          <a:bodyPr wrap="square" lIns="0" tIns="0" rIns="0" bIns="0" rtlCol="0" anchor="t"/>
          <a:lstStyle/>
          <a:p>
            <a:pPr indent="0" marL="0">
              <a:buNone/>
            </a:pPr>
            <a:r>
              <a:rPr lang="en-US" sz="1700" b="1" dirty="0">
                <a:solidFill>
                  <a:srgbClr val="1B1E20"/>
                </a:solidFill>
                <a:latin typeface="Arial" pitchFamily="34" charset="0"/>
                <a:ea typeface="Arial" pitchFamily="34" charset="-122"/>
                <a:cs typeface="Arial" pitchFamily="34" charset="-120"/>
              </a:rPr>
              <a:t>READS</a:t>
            </a:r>
            <a:endParaRPr lang="en-US" sz="1700" dirty="0"/>
          </a:p>
        </p:txBody>
      </p:sp>
      <p:sp>
        <p:nvSpPr>
          <p:cNvPr id="6" name="Text 3"/>
          <p:cNvSpPr/>
          <p:nvPr/>
        </p:nvSpPr>
        <p:spPr>
          <a:xfrm>
            <a:off x="548640" y="3154680"/>
            <a:ext cx="3429000" cy="1737360"/>
          </a:xfrm>
          <a:prstGeom prst="rect">
            <a:avLst/>
          </a:prstGeom>
          <a:noFill/>
          <a:ln/>
        </p:spPr>
        <p:txBody>
          <a:bodyPr wrap="square" lIns="0" tIns="0" rIns="0" bIns="0" rtlCol="0" anchor="t"/>
          <a:lstStyle/>
          <a:p>
            <a:pPr indent="0" marL="0">
              <a:lnSpc>
                <a:spcPct val="130000"/>
              </a:lnSpc>
              <a:buNone/>
            </a:pPr>
            <a:r>
              <a:rPr lang="en-US" sz="1250" dirty="0">
                <a:solidFill>
                  <a:srgbClr val="52585B"/>
                </a:solidFill>
                <a:latin typeface="Calibri" pitchFamily="34" charset="0"/>
                <a:ea typeface="Calibri" pitchFamily="34" charset="-122"/>
                <a:cs typeface="Calibri" pitchFamily="34" charset="-120"/>
              </a:rPr>
              <a:t>Every figure comes back from a query against your own data. Nothing is estimated to fill a gap — when a check has no data for a part, the report says so.</a:t>
            </a:r>
            <a:endParaRPr lang="en-US" sz="1250" dirty="0"/>
          </a:p>
        </p:txBody>
      </p:sp>
      <p:sp>
        <p:nvSpPr>
          <p:cNvPr id="7" name="Shape 4"/>
          <p:cNvSpPr/>
          <p:nvPr/>
        </p:nvSpPr>
        <p:spPr>
          <a:xfrm>
            <a:off x="4343400" y="1965960"/>
            <a:ext cx="548640" cy="548640"/>
          </a:xfrm>
          <a:prstGeom prst="roundRect">
            <a:avLst>
              <a:gd name="adj" fmla="val 11667"/>
            </a:avLst>
          </a:prstGeom>
          <a:solidFill>
            <a:srgbClr val="B85C24"/>
          </a:solidFill>
          <a:ln/>
        </p:spPr>
      </p:sp>
      <p:pic>
        <p:nvPicPr>
          <p:cNvPr id="8" name="Image 1" descr="/tmp/claude-1000/-home-anurag-r-work-agentbrick-works-restock-agent/2dd0bea3-cfe1-43a1-8644-31ec55874190/scratchpad/deck/assets/calculator.png">    </p:cNvPr>
          <p:cNvPicPr>
            <a:picLocks noChangeAspect="1"/>
          </p:cNvPicPr>
          <p:nvPr/>
        </p:nvPicPr>
        <p:blipFill>
          <a:blip r:embed="rId2"/>
          <a:stretch>
            <a:fillRect/>
          </a:stretch>
        </p:blipFill>
        <p:spPr>
          <a:xfrm>
            <a:off x="4475074" y="2097634"/>
            <a:ext cx="285293" cy="285293"/>
          </a:xfrm>
          <a:prstGeom prst="rect">
            <a:avLst/>
          </a:prstGeom>
        </p:spPr>
      </p:pic>
      <p:sp>
        <p:nvSpPr>
          <p:cNvPr id="9" name="Text 5"/>
          <p:cNvSpPr/>
          <p:nvPr/>
        </p:nvSpPr>
        <p:spPr>
          <a:xfrm>
            <a:off x="4343400" y="2697480"/>
            <a:ext cx="3429000" cy="384048"/>
          </a:xfrm>
          <a:prstGeom prst="rect">
            <a:avLst/>
          </a:prstGeom>
          <a:noFill/>
          <a:ln/>
        </p:spPr>
        <p:txBody>
          <a:bodyPr wrap="square" lIns="0" tIns="0" rIns="0" bIns="0" rtlCol="0" anchor="t"/>
          <a:lstStyle/>
          <a:p>
            <a:pPr indent="0" marL="0">
              <a:buNone/>
            </a:pPr>
            <a:r>
              <a:rPr lang="en-US" sz="1700" b="1" dirty="0">
                <a:solidFill>
                  <a:srgbClr val="1B1E20"/>
                </a:solidFill>
                <a:latin typeface="Arial" pitchFamily="34" charset="0"/>
                <a:ea typeface="Arial" pitchFamily="34" charset="-122"/>
                <a:cs typeface="Arial" pitchFamily="34" charset="-120"/>
              </a:rPr>
              <a:t>DECIDES</a:t>
            </a:r>
            <a:endParaRPr lang="en-US" sz="1700" dirty="0"/>
          </a:p>
        </p:txBody>
      </p:sp>
      <p:sp>
        <p:nvSpPr>
          <p:cNvPr id="10" name="Text 6"/>
          <p:cNvSpPr/>
          <p:nvPr/>
        </p:nvSpPr>
        <p:spPr>
          <a:xfrm>
            <a:off x="4343400" y="3154680"/>
            <a:ext cx="3429000" cy="1737360"/>
          </a:xfrm>
          <a:prstGeom prst="rect">
            <a:avLst/>
          </a:prstGeom>
          <a:noFill/>
          <a:ln/>
        </p:spPr>
        <p:txBody>
          <a:bodyPr wrap="square" lIns="0" tIns="0" rIns="0" bIns="0" rtlCol="0" anchor="t"/>
          <a:lstStyle/>
          <a:p>
            <a:pPr indent="0" marL="0">
              <a:lnSpc>
                <a:spcPct val="130000"/>
              </a:lnSpc>
              <a:buNone/>
            </a:pPr>
            <a:r>
              <a:rPr lang="en-US" sz="1250" dirty="0">
                <a:solidFill>
                  <a:srgbClr val="52585B"/>
                </a:solidFill>
                <a:latin typeface="Calibri" pitchFamily="34" charset="0"/>
                <a:ea typeface="Calibri" pitchFamily="34" charset="-122"/>
                <a:cs typeface="Calibri" pitchFamily="34" charset="-120"/>
              </a:rPr>
              <a:t>The ranking is one visible subtraction, not a model score. You can argue with the formula, which is the point.</a:t>
            </a:r>
            <a:endParaRPr lang="en-US" sz="1250" dirty="0"/>
          </a:p>
        </p:txBody>
      </p:sp>
      <p:sp>
        <p:nvSpPr>
          <p:cNvPr id="11" name="Shape 7"/>
          <p:cNvSpPr/>
          <p:nvPr/>
        </p:nvSpPr>
        <p:spPr>
          <a:xfrm>
            <a:off x="8138160" y="1965960"/>
            <a:ext cx="548640" cy="548640"/>
          </a:xfrm>
          <a:prstGeom prst="roundRect">
            <a:avLst>
              <a:gd name="adj" fmla="val 11667"/>
            </a:avLst>
          </a:prstGeom>
          <a:solidFill>
            <a:srgbClr val="2E6580"/>
          </a:solidFill>
          <a:ln/>
        </p:spPr>
      </p:sp>
      <p:pic>
        <p:nvPicPr>
          <p:cNvPr id="12" name="Image 2" descr="/tmp/claude-1000/-home-anurag-r-work-agentbrick-works-restock-agent/2dd0bea3-cfe1-43a1-8644-31ec55874190/scratchpad/deck/assets/lock.png">    </p:cNvPr>
          <p:cNvPicPr>
            <a:picLocks noChangeAspect="1"/>
          </p:cNvPicPr>
          <p:nvPr/>
        </p:nvPicPr>
        <p:blipFill>
          <a:blip r:embed="rId3"/>
          <a:stretch>
            <a:fillRect/>
          </a:stretch>
        </p:blipFill>
        <p:spPr>
          <a:xfrm>
            <a:off x="8269834" y="2097634"/>
            <a:ext cx="285293" cy="285293"/>
          </a:xfrm>
          <a:prstGeom prst="rect">
            <a:avLst/>
          </a:prstGeom>
        </p:spPr>
      </p:pic>
      <p:sp>
        <p:nvSpPr>
          <p:cNvPr id="13" name="Text 8"/>
          <p:cNvSpPr/>
          <p:nvPr/>
        </p:nvSpPr>
        <p:spPr>
          <a:xfrm>
            <a:off x="8138160" y="2697480"/>
            <a:ext cx="3429000" cy="384048"/>
          </a:xfrm>
          <a:prstGeom prst="rect">
            <a:avLst/>
          </a:prstGeom>
          <a:noFill/>
          <a:ln/>
        </p:spPr>
        <p:txBody>
          <a:bodyPr wrap="square" lIns="0" tIns="0" rIns="0" bIns="0" rtlCol="0" anchor="t"/>
          <a:lstStyle/>
          <a:p>
            <a:pPr indent="0" marL="0">
              <a:buNone/>
            </a:pPr>
            <a:r>
              <a:rPr lang="en-US" sz="1700" b="1" dirty="0">
                <a:solidFill>
                  <a:srgbClr val="1B1E20"/>
                </a:solidFill>
                <a:latin typeface="Arial" pitchFamily="34" charset="0"/>
                <a:ea typeface="Arial" pitchFamily="34" charset="-122"/>
                <a:cs typeface="Arial" pitchFamily="34" charset="-120"/>
              </a:rPr>
              <a:t>WRITES</a:t>
            </a:r>
            <a:endParaRPr lang="en-US" sz="1700" dirty="0"/>
          </a:p>
        </p:txBody>
      </p:sp>
      <p:sp>
        <p:nvSpPr>
          <p:cNvPr id="14" name="Text 9"/>
          <p:cNvSpPr/>
          <p:nvPr/>
        </p:nvSpPr>
        <p:spPr>
          <a:xfrm>
            <a:off x="8138160" y="3154680"/>
            <a:ext cx="3429000" cy="1737360"/>
          </a:xfrm>
          <a:prstGeom prst="rect">
            <a:avLst/>
          </a:prstGeom>
          <a:noFill/>
          <a:ln/>
        </p:spPr>
        <p:txBody>
          <a:bodyPr wrap="square" lIns="0" tIns="0" rIns="0" bIns="0" rtlCol="0" anchor="t"/>
          <a:lstStyle/>
          <a:p>
            <a:pPr indent="0" marL="0">
              <a:lnSpc>
                <a:spcPct val="130000"/>
              </a:lnSpc>
              <a:buNone/>
            </a:pPr>
            <a:r>
              <a:rPr lang="en-US" sz="1250" dirty="0">
                <a:solidFill>
                  <a:srgbClr val="52585B"/>
                </a:solidFill>
                <a:latin typeface="Calibri" pitchFamily="34" charset="0"/>
                <a:ea typeface="Calibri" pitchFamily="34" charset="-122"/>
                <a:cs typeface="Calibri" pitchFamily="34" charset="-120"/>
              </a:rPr>
              <a:t>Actions are idempotent by construction. A retry or a double-call cannot raise a duplicate order or double-book a transfer.</a:t>
            </a:r>
            <a:endParaRPr lang="en-US" sz="1250" dirty="0"/>
          </a:p>
        </p:txBody>
      </p:sp>
      <p:sp>
        <p:nvSpPr>
          <p:cNvPr id="15" name="Text 10"/>
          <p:cNvSpPr/>
          <p:nvPr/>
        </p:nvSpPr>
        <p:spPr>
          <a:xfrm>
            <a:off x="548640" y="5257800"/>
            <a:ext cx="10515600" cy="365760"/>
          </a:xfrm>
          <a:prstGeom prst="rect">
            <a:avLst/>
          </a:prstGeom>
          <a:noFill/>
          <a:ln/>
        </p:spPr>
        <p:txBody>
          <a:bodyPr wrap="square" lIns="0" tIns="0" rIns="0" bIns="0" rtlCol="0" anchor="t"/>
          <a:lstStyle/>
          <a:p>
            <a:pPr indent="0" marL="0">
              <a:buNone/>
            </a:pPr>
            <a:r>
              <a:rPr lang="en-US" sz="1300" i="1" dirty="0">
                <a:solidFill>
                  <a:srgbClr val="52585B"/>
                </a:solidFill>
                <a:latin typeface="Calibri" pitchFamily="34" charset="0"/>
                <a:ea typeface="Calibri" pitchFamily="34" charset="-122"/>
                <a:cs typeface="Calibri" pitchFamily="34" charset="-120"/>
              </a:rPr>
              <a:t>Runs natively on your Databricks lakehouse — no data leaves the platform.</a:t>
            </a:r>
            <a:endParaRPr lang="en-US" sz="1300" dirty="0"/>
          </a:p>
        </p:txBody>
      </p:sp>
      <p:sp>
        <p:nvSpPr>
          <p:cNvPr id="16" name="Text 11"/>
          <p:cNvSpPr/>
          <p:nvPr/>
        </p:nvSpPr>
        <p:spPr>
          <a:xfrm>
            <a:off x="548640" y="6473952"/>
            <a:ext cx="7315200" cy="274320"/>
          </a:xfrm>
          <a:prstGeom prst="rect">
            <a:avLst/>
          </a:prstGeom>
          <a:noFill/>
          <a:ln/>
        </p:spPr>
        <p:txBody>
          <a:bodyPr wrap="square" lIns="0" tIns="0" rIns="0" bIns="0" rtlCol="0" anchor="ctr"/>
          <a:lstStyle/>
          <a:p>
            <a:pPr indent="0" marL="0">
              <a:buNone/>
            </a:pPr>
            <a:r>
              <a:rPr lang="en-US" sz="850" b="1" spc="100" kern="0" dirty="0">
                <a:solidFill>
                  <a:srgbClr val="52585B"/>
                </a:solidFill>
                <a:latin typeface="Calibri" pitchFamily="34" charset="0"/>
                <a:ea typeface="Calibri" pitchFamily="34" charset="-122"/>
                <a:cs typeface="Calibri" pitchFamily="34" charset="-120"/>
              </a:rPr>
              <a:t>MANUFACTURING INVENTORY INTELLIGENCE</a:t>
            </a:r>
            <a:endParaRPr lang="en-US" sz="850" dirty="0"/>
          </a:p>
        </p:txBody>
      </p:sp>
      <p:sp>
        <p:nvSpPr>
          <p:cNvPr id="17" name="Text 12"/>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52585B"/>
                </a:solidFill>
                <a:latin typeface="Courier New" pitchFamily="34" charset="0"/>
                <a:ea typeface="Courier New" pitchFamily="34" charset="-122"/>
                <a:cs typeface="Courier New" pitchFamily="34" charset="-120"/>
              </a:rPr>
              <a:t>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0515600" cy="777240"/>
          </a:xfrm>
          <a:prstGeom prst="rect">
            <a:avLst/>
          </a:prstGeom>
          <a:noFill/>
          <a:ln/>
        </p:spPr>
        <p:txBody>
          <a:bodyPr wrap="square" lIns="0" tIns="0" rIns="0" bIns="0" rtlCol="0" anchor="t"/>
          <a:lstStyle/>
          <a:p>
            <a:pPr indent="0" marL="0">
              <a:buNone/>
            </a:pPr>
            <a:r>
              <a:rPr lang="en-US" sz="3200" b="1" dirty="0">
                <a:solidFill>
                  <a:srgbClr val="1B1E20"/>
                </a:solidFill>
                <a:latin typeface="Arial" pitchFamily="34" charset="0"/>
                <a:ea typeface="Arial" pitchFamily="34" charset="-122"/>
                <a:cs typeface="Arial" pitchFamily="34" charset="-120"/>
              </a:rPr>
              <a:t>Ranked by money. And quiet when it should be.</a:t>
            </a:r>
            <a:endParaRPr lang="en-US" sz="3200" dirty="0"/>
          </a:p>
        </p:txBody>
      </p:sp>
      <p:sp>
        <p:nvSpPr>
          <p:cNvPr id="3" name="Text 1"/>
          <p:cNvSpPr/>
          <p:nvPr/>
        </p:nvSpPr>
        <p:spPr>
          <a:xfrm>
            <a:off x="548640" y="1508760"/>
            <a:ext cx="8046720" cy="822960"/>
          </a:xfrm>
          <a:prstGeom prst="rect">
            <a:avLst/>
          </a:prstGeom>
          <a:noFill/>
          <a:ln/>
        </p:spPr>
        <p:txBody>
          <a:bodyPr wrap="square" lIns="0" tIns="0" rIns="0" bIns="0" rtlCol="0" anchor="t"/>
          <a:lstStyle/>
          <a:p>
            <a:pPr indent="0" marL="0">
              <a:lnSpc>
                <a:spcPct val="135000"/>
              </a:lnSpc>
              <a:buNone/>
            </a:pPr>
            <a:r>
              <a:rPr lang="en-US" sz="1500" dirty="0">
                <a:solidFill>
                  <a:srgbClr val="52585B"/>
                </a:solidFill>
                <a:latin typeface="Calibri" pitchFamily="34" charset="0"/>
                <a:ea typeface="Calibri" pitchFamily="34" charset="-122"/>
                <a:cs typeface="Calibri" pitchFamily="34" charset="-120"/>
              </a:rPr>
              <a:t>The board can carry dozens of live signals at once. Only the highest-value item per action type is surfaced, ranked by what is actually at stake once the cost of the cheapest fix is taken off it.</a:t>
            </a:r>
            <a:endParaRPr lang="en-US" sz="1500" dirty="0"/>
          </a:p>
        </p:txBody>
      </p:sp>
      <p:sp>
        <p:nvSpPr>
          <p:cNvPr id="4" name="Shape 2"/>
          <p:cNvSpPr/>
          <p:nvPr/>
        </p:nvSpPr>
        <p:spPr>
          <a:xfrm>
            <a:off x="548640" y="2560320"/>
            <a:ext cx="8595360" cy="777240"/>
          </a:xfrm>
          <a:prstGeom prst="rect">
            <a:avLst/>
          </a:prstGeom>
          <a:solidFill>
            <a:srgbClr val="EDEFEC"/>
          </a:solidFill>
          <a:ln w="12700">
            <a:solidFill>
              <a:srgbClr val="2E6580"/>
            </a:solidFill>
            <a:prstDash val="solid"/>
          </a:ln>
        </p:spPr>
      </p:sp>
      <p:sp>
        <p:nvSpPr>
          <p:cNvPr id="5" name="Text 3"/>
          <p:cNvSpPr/>
          <p:nvPr/>
        </p:nvSpPr>
        <p:spPr>
          <a:xfrm>
            <a:off x="548640" y="2560320"/>
            <a:ext cx="8595360" cy="777240"/>
          </a:xfrm>
          <a:prstGeom prst="rect">
            <a:avLst/>
          </a:prstGeom>
          <a:noFill/>
          <a:ln/>
        </p:spPr>
        <p:txBody>
          <a:bodyPr wrap="square" lIns="0" tIns="0" rIns="0" bIns="0" rtlCol="0" anchor="ctr"/>
          <a:lstStyle/>
          <a:p>
            <a:pPr algn="ctr" indent="0" marL="0">
              <a:buNone/>
            </a:pPr>
            <a:r>
              <a:rPr lang="en-US" sz="1600" b="1" dirty="0">
                <a:solidFill>
                  <a:srgbClr val="1B1E20"/>
                </a:solidFill>
                <a:latin typeface="Courier New" pitchFamily="34" charset="0"/>
                <a:ea typeface="Courier New" pitchFamily="34" charset="-122"/>
                <a:cs typeface="Courier New" pitchFamily="34" charset="-120"/>
              </a:rPr>
              <a:t>DECISION VALUE  =  EXPOSURE  −  COST OF THE CHEAPEST FIX</a:t>
            </a:r>
            <a:endParaRPr lang="en-US" sz="1600" dirty="0"/>
          </a:p>
        </p:txBody>
      </p:sp>
      <p:sp>
        <p:nvSpPr>
          <p:cNvPr id="6" name="Text 4"/>
          <p:cNvSpPr/>
          <p:nvPr/>
        </p:nvSpPr>
        <p:spPr>
          <a:xfrm>
            <a:off x="548640" y="3611880"/>
            <a:ext cx="8046720" cy="822960"/>
          </a:xfrm>
          <a:prstGeom prst="rect">
            <a:avLst/>
          </a:prstGeom>
          <a:noFill/>
          <a:ln/>
        </p:spPr>
        <p:txBody>
          <a:bodyPr wrap="square" lIns="0" tIns="0" rIns="0" bIns="0" rtlCol="0" anchor="t"/>
          <a:lstStyle/>
          <a:p>
            <a:pPr indent="0" marL="0">
              <a:lnSpc>
                <a:spcPct val="135000"/>
              </a:lnSpc>
              <a:buNone/>
            </a:pPr>
            <a:r>
              <a:rPr lang="en-US" sz="1400" dirty="0">
                <a:solidFill>
                  <a:srgbClr val="52585B"/>
                </a:solidFill>
                <a:latin typeface="Calibri" pitchFamily="34" charset="0"/>
                <a:ea typeface="Calibri" pitchFamily="34" charset="-122"/>
                <a:cs typeface="Calibri" pitchFamily="34" charset="-120"/>
              </a:rPr>
              <a:t>A transfer costs almost nothing to execute, so it keeps most of its exposure. A slow or unreliable supplier makes buying cost more to choose — which is how nuance 04 reaches this number.</a:t>
            </a:r>
            <a:endParaRPr lang="en-US" sz="1400" dirty="0"/>
          </a:p>
        </p:txBody>
      </p:sp>
      <p:sp>
        <p:nvSpPr>
          <p:cNvPr id="7" name="Shape 5"/>
          <p:cNvSpPr/>
          <p:nvPr/>
        </p:nvSpPr>
        <p:spPr>
          <a:xfrm>
            <a:off x="548640" y="4663440"/>
            <a:ext cx="8595360" cy="0"/>
          </a:xfrm>
          <a:prstGeom prst="line">
            <a:avLst/>
          </a:prstGeom>
          <a:noFill/>
          <a:ln w="9525">
            <a:solidFill>
              <a:srgbClr val="D8DBD6"/>
            </a:solidFill>
            <a:prstDash val="solid"/>
          </a:ln>
        </p:spPr>
      </p:sp>
      <p:sp>
        <p:nvSpPr>
          <p:cNvPr id="8" name="Text 6"/>
          <p:cNvSpPr/>
          <p:nvPr/>
        </p:nvSpPr>
        <p:spPr>
          <a:xfrm>
            <a:off x="548640" y="4846320"/>
            <a:ext cx="8595360" cy="822960"/>
          </a:xfrm>
          <a:prstGeom prst="rect">
            <a:avLst/>
          </a:prstGeom>
          <a:noFill/>
          <a:ln/>
        </p:spPr>
        <p:txBody>
          <a:bodyPr wrap="square" lIns="0" tIns="0" rIns="0" bIns="0" rtlCol="0" anchor="t"/>
          <a:lstStyle/>
          <a:p>
            <a:pPr indent="0" marL="0">
              <a:lnSpc>
                <a:spcPct val="135000"/>
              </a:lnSpc>
              <a:buNone/>
            </a:pPr>
            <a:r>
              <a:rPr lang="en-US" sz="1400" b="1" dirty="0">
                <a:solidFill>
                  <a:srgbClr val="1B1E20"/>
                </a:solidFill>
                <a:latin typeface="Calibri" pitchFamily="34" charset="0"/>
                <a:ea typeface="Calibri" pitchFamily="34" charset="-122"/>
                <a:cs typeface="Calibri" pitchFamily="34" charset="-120"/>
              </a:rPr>
              <a:t>And it does not repeat itself</a:t>
            </a:r>
            <a:pPr indent="0" marL="0">
              <a:lnSpc>
                <a:spcPct val="135000"/>
              </a:lnSpc>
              <a:buNone/>
            </a:pPr>
            <a:r>
              <a:rPr lang="en-US" sz="1400" dirty="0">
                <a:solidFill>
                  <a:srgbClr val="52585B"/>
                </a:solidFill>
                <a:latin typeface="Calibri" pitchFamily="34" charset="0"/>
                <a:ea typeface="Calibri" pitchFamily="34" charset="-122"/>
                <a:cs typeface="Calibri" pitchFamily="34" charset="-120"/>
              </a:rPr>
              <a:t> — once a shortage is flagged and the decision is pending, it stays quiet for a set window rather than re-surfacing the same problem on every run.</a:t>
            </a:r>
            <a:endParaRPr lang="en-US" sz="1400" dirty="0"/>
          </a:p>
        </p:txBody>
      </p:sp>
      <p:sp>
        <p:nvSpPr>
          <p:cNvPr id="9" name="Text 7"/>
          <p:cNvSpPr/>
          <p:nvPr/>
        </p:nvSpPr>
        <p:spPr>
          <a:xfrm>
            <a:off x="548640" y="6473952"/>
            <a:ext cx="7315200" cy="274320"/>
          </a:xfrm>
          <a:prstGeom prst="rect">
            <a:avLst/>
          </a:prstGeom>
          <a:noFill/>
          <a:ln/>
        </p:spPr>
        <p:txBody>
          <a:bodyPr wrap="square" lIns="0" tIns="0" rIns="0" bIns="0" rtlCol="0" anchor="ctr"/>
          <a:lstStyle/>
          <a:p>
            <a:pPr indent="0" marL="0">
              <a:buNone/>
            </a:pPr>
            <a:r>
              <a:rPr lang="en-US" sz="850" b="1" spc="100" kern="0" dirty="0">
                <a:solidFill>
                  <a:srgbClr val="52585B"/>
                </a:solidFill>
                <a:latin typeface="Calibri" pitchFamily="34" charset="0"/>
                <a:ea typeface="Calibri" pitchFamily="34" charset="-122"/>
                <a:cs typeface="Calibri" pitchFamily="34" charset="-120"/>
              </a:rPr>
              <a:t>MANUFACTURING INVENTORY INTELLIGENCE</a:t>
            </a:r>
            <a:endParaRPr lang="en-US" sz="850" dirty="0"/>
          </a:p>
        </p:txBody>
      </p:sp>
      <p:sp>
        <p:nvSpPr>
          <p:cNvPr id="10" name="Text 8"/>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52585B"/>
                </a:solidFill>
                <a:latin typeface="Courier New" pitchFamily="34" charset="0"/>
                <a:ea typeface="Courier New" pitchFamily="34" charset="-122"/>
                <a:cs typeface="Courier New" pitchFamily="34" charset="-120"/>
              </a:rPr>
              <a:t>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0515600" cy="777240"/>
          </a:xfrm>
          <a:prstGeom prst="rect">
            <a:avLst/>
          </a:prstGeom>
          <a:noFill/>
          <a:ln/>
        </p:spPr>
        <p:txBody>
          <a:bodyPr wrap="square" lIns="0" tIns="0" rIns="0" bIns="0" rtlCol="0" anchor="t"/>
          <a:lstStyle/>
          <a:p>
            <a:pPr indent="0" marL="0">
              <a:buNone/>
            </a:pPr>
            <a:r>
              <a:rPr lang="en-US" sz="3200" b="1" dirty="0">
                <a:solidFill>
                  <a:srgbClr val="1B1E20"/>
                </a:solidFill>
                <a:latin typeface="Arial" pitchFamily="34" charset="0"/>
                <a:ea typeface="Arial" pitchFamily="34" charset="-122"/>
                <a:cs typeface="Arial" pitchFamily="34" charset="-120"/>
              </a:rPr>
              <a:t>Twice a day, unattended.</a:t>
            </a:r>
            <a:endParaRPr lang="en-US" sz="3200" dirty="0"/>
          </a:p>
        </p:txBody>
      </p:sp>
      <p:sp>
        <p:nvSpPr>
          <p:cNvPr id="3" name="Shape 1"/>
          <p:cNvSpPr/>
          <p:nvPr/>
        </p:nvSpPr>
        <p:spPr>
          <a:xfrm>
            <a:off x="1033272" y="3017520"/>
            <a:ext cx="512064" cy="512064"/>
          </a:xfrm>
          <a:prstGeom prst="roundRect">
            <a:avLst>
              <a:gd name="adj" fmla="val 12500"/>
            </a:avLst>
          </a:prstGeom>
          <a:solidFill>
            <a:srgbClr val="2E6580"/>
          </a:solidFill>
          <a:ln/>
        </p:spPr>
      </p:sp>
      <p:pic>
        <p:nvPicPr>
          <p:cNvPr id="4" name="Image 0" descr="/tmp/claude-1000/-home-anurag-r-work-agentbrick-works-restock-agent/2dd0bea3-cfe1-43a1-8644-31ec55874190/scratchpad/deck/assets/search.png">    </p:cNvPr>
          <p:cNvPicPr>
            <a:picLocks noChangeAspect="1"/>
          </p:cNvPicPr>
          <p:nvPr/>
        </p:nvPicPr>
        <p:blipFill>
          <a:blip r:embed="rId1"/>
          <a:stretch>
            <a:fillRect/>
          </a:stretch>
        </p:blipFill>
        <p:spPr>
          <a:xfrm>
            <a:off x="1156167" y="3140415"/>
            <a:ext cx="266273" cy="266273"/>
          </a:xfrm>
          <a:prstGeom prst="rect">
            <a:avLst/>
          </a:prstGeom>
        </p:spPr>
      </p:pic>
      <p:sp>
        <p:nvSpPr>
          <p:cNvPr id="5" name="Text 2"/>
          <p:cNvSpPr/>
          <p:nvPr/>
        </p:nvSpPr>
        <p:spPr>
          <a:xfrm>
            <a:off x="548640" y="3639312"/>
            <a:ext cx="1481328" cy="237744"/>
          </a:xfrm>
          <a:prstGeom prst="rect">
            <a:avLst/>
          </a:prstGeom>
          <a:noFill/>
          <a:ln/>
        </p:spPr>
        <p:txBody>
          <a:bodyPr wrap="square" lIns="0" tIns="0" rIns="0" bIns="0" rtlCol="0" anchor="t"/>
          <a:lstStyle/>
          <a:p>
            <a:pPr algn="ctr" indent="0" marL="0">
              <a:buNone/>
            </a:pPr>
            <a:r>
              <a:rPr lang="en-US" sz="950" dirty="0">
                <a:solidFill>
                  <a:srgbClr val="52585B"/>
                </a:solidFill>
                <a:latin typeface="Courier New" pitchFamily="34" charset="0"/>
                <a:ea typeface="Courier New" pitchFamily="34" charset="-122"/>
                <a:cs typeface="Courier New" pitchFamily="34" charset="-120"/>
              </a:rPr>
              <a:t>01</a:t>
            </a:r>
            <a:endParaRPr lang="en-US" sz="950" dirty="0"/>
          </a:p>
        </p:txBody>
      </p:sp>
      <p:sp>
        <p:nvSpPr>
          <p:cNvPr id="6" name="Text 3"/>
          <p:cNvSpPr/>
          <p:nvPr/>
        </p:nvSpPr>
        <p:spPr>
          <a:xfrm>
            <a:off x="438912" y="3913632"/>
            <a:ext cx="1700784" cy="731520"/>
          </a:xfrm>
          <a:prstGeom prst="rect">
            <a:avLst/>
          </a:prstGeom>
          <a:noFill/>
          <a:ln/>
        </p:spPr>
        <p:txBody>
          <a:bodyPr wrap="square" lIns="0" tIns="0" rIns="0" bIns="0" rtlCol="0" anchor="t"/>
          <a:lstStyle/>
          <a:p>
            <a:pPr algn="ctr" indent="0" marL="0">
              <a:lnSpc>
                <a:spcPct val="115000"/>
              </a:lnSpc>
              <a:buNone/>
            </a:pPr>
            <a:r>
              <a:rPr lang="en-US" sz="1150" b="1" dirty="0">
                <a:solidFill>
                  <a:srgbClr val="1B1E20"/>
                </a:solidFill>
                <a:latin typeface="Calibri" pitchFamily="34" charset="0"/>
                <a:ea typeface="Calibri" pitchFamily="34" charset="-122"/>
                <a:cs typeface="Calibri" pitchFamily="34" charset="-120"/>
              </a:rPr>
              <a:t>Scan the board</a:t>
            </a:r>
            <a:endParaRPr lang="en-US" sz="1150" dirty="0"/>
          </a:p>
        </p:txBody>
      </p:sp>
      <p:sp>
        <p:nvSpPr>
          <p:cNvPr id="7" name="Text 4"/>
          <p:cNvSpPr/>
          <p:nvPr/>
        </p:nvSpPr>
        <p:spPr>
          <a:xfrm>
            <a:off x="2029968" y="3108960"/>
            <a:ext cx="457200" cy="365760"/>
          </a:xfrm>
          <a:prstGeom prst="rect">
            <a:avLst/>
          </a:prstGeom>
          <a:noFill/>
          <a:ln/>
        </p:spPr>
        <p:txBody>
          <a:bodyPr wrap="square" lIns="0" tIns="0" rIns="0" bIns="0" rtlCol="0" anchor="ctr"/>
          <a:lstStyle/>
          <a:p>
            <a:pPr algn="ctr" indent="0" marL="0">
              <a:buNone/>
            </a:pPr>
            <a:r>
              <a:rPr lang="en-US" sz="1800" b="1" dirty="0">
                <a:solidFill>
                  <a:srgbClr val="D8DBD6"/>
                </a:solidFill>
                <a:latin typeface="Arial" pitchFamily="34" charset="0"/>
                <a:ea typeface="Arial" pitchFamily="34" charset="-122"/>
                <a:cs typeface="Arial" pitchFamily="34" charset="-120"/>
              </a:rPr>
              <a:t>→</a:t>
            </a:r>
            <a:endParaRPr lang="en-US" sz="1800" dirty="0"/>
          </a:p>
        </p:txBody>
      </p:sp>
      <p:sp>
        <p:nvSpPr>
          <p:cNvPr id="8" name="Shape 5"/>
          <p:cNvSpPr/>
          <p:nvPr/>
        </p:nvSpPr>
        <p:spPr>
          <a:xfrm>
            <a:off x="2971800" y="3017520"/>
            <a:ext cx="512064" cy="512064"/>
          </a:xfrm>
          <a:prstGeom prst="roundRect">
            <a:avLst>
              <a:gd name="adj" fmla="val 12500"/>
            </a:avLst>
          </a:prstGeom>
          <a:solidFill>
            <a:srgbClr val="B85C24"/>
          </a:solidFill>
          <a:ln/>
        </p:spPr>
      </p:sp>
      <p:pic>
        <p:nvPicPr>
          <p:cNvPr id="9" name="Image 1" descr="/tmp/claude-1000/-home-anurag-r-work-agentbrick-works-restock-agent/2dd0bea3-cfe1-43a1-8644-31ec55874190/scratchpad/deck/assets/clipboard.png">    </p:cNvPr>
          <p:cNvPicPr>
            <a:picLocks noChangeAspect="1"/>
          </p:cNvPicPr>
          <p:nvPr/>
        </p:nvPicPr>
        <p:blipFill>
          <a:blip r:embed="rId2"/>
          <a:stretch>
            <a:fillRect/>
          </a:stretch>
        </p:blipFill>
        <p:spPr>
          <a:xfrm>
            <a:off x="3094695" y="3140415"/>
            <a:ext cx="266273" cy="266273"/>
          </a:xfrm>
          <a:prstGeom prst="rect">
            <a:avLst/>
          </a:prstGeom>
        </p:spPr>
      </p:pic>
      <p:sp>
        <p:nvSpPr>
          <p:cNvPr id="10" name="Text 6"/>
          <p:cNvSpPr/>
          <p:nvPr/>
        </p:nvSpPr>
        <p:spPr>
          <a:xfrm>
            <a:off x="2487168" y="3639312"/>
            <a:ext cx="1481328" cy="237744"/>
          </a:xfrm>
          <a:prstGeom prst="rect">
            <a:avLst/>
          </a:prstGeom>
          <a:noFill/>
          <a:ln/>
        </p:spPr>
        <p:txBody>
          <a:bodyPr wrap="square" lIns="0" tIns="0" rIns="0" bIns="0" rtlCol="0" anchor="t"/>
          <a:lstStyle/>
          <a:p>
            <a:pPr algn="ctr" indent="0" marL="0">
              <a:buNone/>
            </a:pPr>
            <a:r>
              <a:rPr lang="en-US" sz="950" dirty="0">
                <a:solidFill>
                  <a:srgbClr val="52585B"/>
                </a:solidFill>
                <a:latin typeface="Courier New" pitchFamily="34" charset="0"/>
                <a:ea typeface="Courier New" pitchFamily="34" charset="-122"/>
                <a:cs typeface="Courier New" pitchFamily="34" charset="-120"/>
              </a:rPr>
              <a:t>02</a:t>
            </a:r>
            <a:endParaRPr lang="en-US" sz="950" dirty="0"/>
          </a:p>
        </p:txBody>
      </p:sp>
      <p:sp>
        <p:nvSpPr>
          <p:cNvPr id="11" name="Text 7"/>
          <p:cNvSpPr/>
          <p:nvPr/>
        </p:nvSpPr>
        <p:spPr>
          <a:xfrm>
            <a:off x="2377440" y="3913632"/>
            <a:ext cx="1700784" cy="731520"/>
          </a:xfrm>
          <a:prstGeom prst="rect">
            <a:avLst/>
          </a:prstGeom>
          <a:noFill/>
          <a:ln/>
        </p:spPr>
        <p:txBody>
          <a:bodyPr wrap="square" lIns="0" tIns="0" rIns="0" bIns="0" rtlCol="0" anchor="t"/>
          <a:lstStyle/>
          <a:p>
            <a:pPr algn="ctr" indent="0" marL="0">
              <a:lnSpc>
                <a:spcPct val="115000"/>
              </a:lnSpc>
              <a:buNone/>
            </a:pPr>
            <a:r>
              <a:rPr lang="en-US" sz="1150" b="1" dirty="0">
                <a:solidFill>
                  <a:srgbClr val="1B1E20"/>
                </a:solidFill>
                <a:latin typeface="Calibri" pitchFamily="34" charset="0"/>
                <a:ea typeface="Calibri" pitchFamily="34" charset="-122"/>
                <a:cs typeface="Calibri" pitchFamily="34" charset="-120"/>
              </a:rPr>
              <a:t>Run the seven nuances</a:t>
            </a:r>
            <a:endParaRPr lang="en-US" sz="1150" dirty="0"/>
          </a:p>
        </p:txBody>
      </p:sp>
      <p:sp>
        <p:nvSpPr>
          <p:cNvPr id="12" name="Text 8"/>
          <p:cNvSpPr/>
          <p:nvPr/>
        </p:nvSpPr>
        <p:spPr>
          <a:xfrm>
            <a:off x="3968496" y="3108960"/>
            <a:ext cx="457200" cy="365760"/>
          </a:xfrm>
          <a:prstGeom prst="rect">
            <a:avLst/>
          </a:prstGeom>
          <a:noFill/>
          <a:ln/>
        </p:spPr>
        <p:txBody>
          <a:bodyPr wrap="square" lIns="0" tIns="0" rIns="0" bIns="0" rtlCol="0" anchor="ctr"/>
          <a:lstStyle/>
          <a:p>
            <a:pPr algn="ctr" indent="0" marL="0">
              <a:buNone/>
            </a:pPr>
            <a:r>
              <a:rPr lang="en-US" sz="1800" b="1" dirty="0">
                <a:solidFill>
                  <a:srgbClr val="D8DBD6"/>
                </a:solidFill>
                <a:latin typeface="Arial" pitchFamily="34" charset="0"/>
                <a:ea typeface="Arial" pitchFamily="34" charset="-122"/>
                <a:cs typeface="Arial" pitchFamily="34" charset="-120"/>
              </a:rPr>
              <a:t>→</a:t>
            </a:r>
            <a:endParaRPr lang="en-US" sz="1800" dirty="0"/>
          </a:p>
        </p:txBody>
      </p:sp>
      <p:sp>
        <p:nvSpPr>
          <p:cNvPr id="13" name="Shape 9"/>
          <p:cNvSpPr/>
          <p:nvPr/>
        </p:nvSpPr>
        <p:spPr>
          <a:xfrm>
            <a:off x="4910328" y="3017520"/>
            <a:ext cx="512064" cy="512064"/>
          </a:xfrm>
          <a:prstGeom prst="roundRect">
            <a:avLst>
              <a:gd name="adj" fmla="val 12500"/>
            </a:avLst>
          </a:prstGeom>
          <a:solidFill>
            <a:srgbClr val="2E6580"/>
          </a:solidFill>
          <a:ln/>
        </p:spPr>
      </p:sp>
      <p:pic>
        <p:nvPicPr>
          <p:cNvPr id="14" name="Image 2" descr="/tmp/claude-1000/-home-anurag-r-work-agentbrick-works-restock-agent/2dd0bea3-cfe1-43a1-8644-31ec55874190/scratchpad/deck/assets/layers.png">    </p:cNvPr>
          <p:cNvPicPr>
            <a:picLocks noChangeAspect="1"/>
          </p:cNvPicPr>
          <p:nvPr/>
        </p:nvPicPr>
        <p:blipFill>
          <a:blip r:embed="rId3"/>
          <a:stretch>
            <a:fillRect/>
          </a:stretch>
        </p:blipFill>
        <p:spPr>
          <a:xfrm>
            <a:off x="5033223" y="3140415"/>
            <a:ext cx="266273" cy="266273"/>
          </a:xfrm>
          <a:prstGeom prst="rect">
            <a:avLst/>
          </a:prstGeom>
        </p:spPr>
      </p:pic>
      <p:sp>
        <p:nvSpPr>
          <p:cNvPr id="15" name="Text 10"/>
          <p:cNvSpPr/>
          <p:nvPr/>
        </p:nvSpPr>
        <p:spPr>
          <a:xfrm>
            <a:off x="4425696" y="3639312"/>
            <a:ext cx="1481328" cy="237744"/>
          </a:xfrm>
          <a:prstGeom prst="rect">
            <a:avLst/>
          </a:prstGeom>
          <a:noFill/>
          <a:ln/>
        </p:spPr>
        <p:txBody>
          <a:bodyPr wrap="square" lIns="0" tIns="0" rIns="0" bIns="0" rtlCol="0" anchor="t"/>
          <a:lstStyle/>
          <a:p>
            <a:pPr algn="ctr" indent="0" marL="0">
              <a:buNone/>
            </a:pPr>
            <a:r>
              <a:rPr lang="en-US" sz="950" dirty="0">
                <a:solidFill>
                  <a:srgbClr val="52585B"/>
                </a:solidFill>
                <a:latin typeface="Courier New" pitchFamily="34" charset="0"/>
                <a:ea typeface="Courier New" pitchFamily="34" charset="-122"/>
                <a:cs typeface="Courier New" pitchFamily="34" charset="-120"/>
              </a:rPr>
              <a:t>03</a:t>
            </a:r>
            <a:endParaRPr lang="en-US" sz="950" dirty="0"/>
          </a:p>
        </p:txBody>
      </p:sp>
      <p:sp>
        <p:nvSpPr>
          <p:cNvPr id="16" name="Text 11"/>
          <p:cNvSpPr/>
          <p:nvPr/>
        </p:nvSpPr>
        <p:spPr>
          <a:xfrm>
            <a:off x="4315968" y="3913632"/>
            <a:ext cx="1700784" cy="731520"/>
          </a:xfrm>
          <a:prstGeom prst="rect">
            <a:avLst/>
          </a:prstGeom>
          <a:noFill/>
          <a:ln/>
        </p:spPr>
        <p:txBody>
          <a:bodyPr wrap="square" lIns="0" tIns="0" rIns="0" bIns="0" rtlCol="0" anchor="t"/>
          <a:lstStyle/>
          <a:p>
            <a:pPr algn="ctr" indent="0" marL="0">
              <a:lnSpc>
                <a:spcPct val="115000"/>
              </a:lnSpc>
              <a:buNone/>
            </a:pPr>
            <a:r>
              <a:rPr lang="en-US" sz="1150" b="1" dirty="0">
                <a:solidFill>
                  <a:srgbClr val="1B1E20"/>
                </a:solidFill>
                <a:latin typeface="Calibri" pitchFamily="34" charset="0"/>
                <a:ea typeface="Calibri" pitchFamily="34" charset="-122"/>
                <a:cs typeface="Calibri" pitchFamily="34" charset="-120"/>
              </a:rPr>
              <a:t>Bundle into one quote</a:t>
            </a:r>
            <a:endParaRPr lang="en-US" sz="1150" dirty="0"/>
          </a:p>
        </p:txBody>
      </p:sp>
      <p:sp>
        <p:nvSpPr>
          <p:cNvPr id="17" name="Text 12"/>
          <p:cNvSpPr/>
          <p:nvPr/>
        </p:nvSpPr>
        <p:spPr>
          <a:xfrm>
            <a:off x="5907024" y="3108960"/>
            <a:ext cx="457200" cy="365760"/>
          </a:xfrm>
          <a:prstGeom prst="rect">
            <a:avLst/>
          </a:prstGeom>
          <a:noFill/>
          <a:ln/>
        </p:spPr>
        <p:txBody>
          <a:bodyPr wrap="square" lIns="0" tIns="0" rIns="0" bIns="0" rtlCol="0" anchor="ctr"/>
          <a:lstStyle/>
          <a:p>
            <a:pPr algn="ctr" indent="0" marL="0">
              <a:buNone/>
            </a:pPr>
            <a:r>
              <a:rPr lang="en-US" sz="1800" b="1" dirty="0">
                <a:solidFill>
                  <a:srgbClr val="D8DBD6"/>
                </a:solidFill>
                <a:latin typeface="Arial" pitchFamily="34" charset="0"/>
                <a:ea typeface="Arial" pitchFamily="34" charset="-122"/>
                <a:cs typeface="Arial" pitchFamily="34" charset="-120"/>
              </a:rPr>
              <a:t>→</a:t>
            </a:r>
            <a:endParaRPr lang="en-US" sz="1800" dirty="0"/>
          </a:p>
        </p:txBody>
      </p:sp>
      <p:sp>
        <p:nvSpPr>
          <p:cNvPr id="18" name="Shape 13"/>
          <p:cNvSpPr/>
          <p:nvPr/>
        </p:nvSpPr>
        <p:spPr>
          <a:xfrm>
            <a:off x="6848856" y="3017520"/>
            <a:ext cx="512064" cy="512064"/>
          </a:xfrm>
          <a:prstGeom prst="roundRect">
            <a:avLst>
              <a:gd name="adj" fmla="val 12500"/>
            </a:avLst>
          </a:prstGeom>
          <a:solidFill>
            <a:srgbClr val="B85C24"/>
          </a:solidFill>
          <a:ln/>
        </p:spPr>
      </p:sp>
      <p:pic>
        <p:nvPicPr>
          <p:cNvPr id="19" name="Image 3" descr="/tmp/claude-1000/-home-anurag-r-work-agentbrick-works-restock-agent/2dd0bea3-cfe1-43a1-8644-31ec55874190/scratchpad/deck/assets/bell.png">    </p:cNvPr>
          <p:cNvPicPr>
            <a:picLocks noChangeAspect="1"/>
          </p:cNvPicPr>
          <p:nvPr/>
        </p:nvPicPr>
        <p:blipFill>
          <a:blip r:embed="rId4"/>
          <a:stretch>
            <a:fillRect/>
          </a:stretch>
        </p:blipFill>
        <p:spPr>
          <a:xfrm>
            <a:off x="6971751" y="3140415"/>
            <a:ext cx="266273" cy="266273"/>
          </a:xfrm>
          <a:prstGeom prst="rect">
            <a:avLst/>
          </a:prstGeom>
        </p:spPr>
      </p:pic>
      <p:sp>
        <p:nvSpPr>
          <p:cNvPr id="20" name="Text 14"/>
          <p:cNvSpPr/>
          <p:nvPr/>
        </p:nvSpPr>
        <p:spPr>
          <a:xfrm>
            <a:off x="6364224" y="3639312"/>
            <a:ext cx="1481328" cy="237744"/>
          </a:xfrm>
          <a:prstGeom prst="rect">
            <a:avLst/>
          </a:prstGeom>
          <a:noFill/>
          <a:ln/>
        </p:spPr>
        <p:txBody>
          <a:bodyPr wrap="square" lIns="0" tIns="0" rIns="0" bIns="0" rtlCol="0" anchor="t"/>
          <a:lstStyle/>
          <a:p>
            <a:pPr algn="ctr" indent="0" marL="0">
              <a:buNone/>
            </a:pPr>
            <a:r>
              <a:rPr lang="en-US" sz="950" dirty="0">
                <a:solidFill>
                  <a:srgbClr val="52585B"/>
                </a:solidFill>
                <a:latin typeface="Courier New" pitchFamily="34" charset="0"/>
                <a:ea typeface="Courier New" pitchFamily="34" charset="-122"/>
                <a:cs typeface="Courier New" pitchFamily="34" charset="-120"/>
              </a:rPr>
              <a:t>04</a:t>
            </a:r>
            <a:endParaRPr lang="en-US" sz="950" dirty="0"/>
          </a:p>
        </p:txBody>
      </p:sp>
      <p:sp>
        <p:nvSpPr>
          <p:cNvPr id="21" name="Text 15"/>
          <p:cNvSpPr/>
          <p:nvPr/>
        </p:nvSpPr>
        <p:spPr>
          <a:xfrm>
            <a:off x="6254496" y="3913632"/>
            <a:ext cx="1700784" cy="731520"/>
          </a:xfrm>
          <a:prstGeom prst="rect">
            <a:avLst/>
          </a:prstGeom>
          <a:noFill/>
          <a:ln/>
        </p:spPr>
        <p:txBody>
          <a:bodyPr wrap="square" lIns="0" tIns="0" rIns="0" bIns="0" rtlCol="0" anchor="t"/>
          <a:lstStyle/>
          <a:p>
            <a:pPr algn="ctr" indent="0" marL="0">
              <a:lnSpc>
                <a:spcPct val="115000"/>
              </a:lnSpc>
              <a:buNone/>
            </a:pPr>
            <a:r>
              <a:rPr lang="en-US" sz="1150" b="1" dirty="0">
                <a:solidFill>
                  <a:srgbClr val="1B1E20"/>
                </a:solidFill>
                <a:latin typeface="Calibri" pitchFamily="34" charset="0"/>
                <a:ea typeface="Calibri" pitchFamily="34" charset="-122"/>
                <a:cs typeface="Calibri" pitchFamily="34" charset="-120"/>
              </a:rPr>
              <a:t>Notify in Teams</a:t>
            </a:r>
            <a:endParaRPr lang="en-US" sz="1150" dirty="0"/>
          </a:p>
        </p:txBody>
      </p:sp>
      <p:sp>
        <p:nvSpPr>
          <p:cNvPr id="22" name="Text 16"/>
          <p:cNvSpPr/>
          <p:nvPr/>
        </p:nvSpPr>
        <p:spPr>
          <a:xfrm>
            <a:off x="7845552" y="3108960"/>
            <a:ext cx="457200" cy="365760"/>
          </a:xfrm>
          <a:prstGeom prst="rect">
            <a:avLst/>
          </a:prstGeom>
          <a:noFill/>
          <a:ln/>
        </p:spPr>
        <p:txBody>
          <a:bodyPr wrap="square" lIns="0" tIns="0" rIns="0" bIns="0" rtlCol="0" anchor="ctr"/>
          <a:lstStyle/>
          <a:p>
            <a:pPr algn="ctr" indent="0" marL="0">
              <a:buNone/>
            </a:pPr>
            <a:r>
              <a:rPr lang="en-US" sz="1800" b="1" dirty="0">
                <a:solidFill>
                  <a:srgbClr val="D8DBD6"/>
                </a:solidFill>
                <a:latin typeface="Arial" pitchFamily="34" charset="0"/>
                <a:ea typeface="Arial" pitchFamily="34" charset="-122"/>
                <a:cs typeface="Arial" pitchFamily="34" charset="-120"/>
              </a:rPr>
              <a:t>→</a:t>
            </a:r>
            <a:endParaRPr lang="en-US" sz="1800" dirty="0"/>
          </a:p>
        </p:txBody>
      </p:sp>
      <p:sp>
        <p:nvSpPr>
          <p:cNvPr id="23" name="Shape 17"/>
          <p:cNvSpPr/>
          <p:nvPr/>
        </p:nvSpPr>
        <p:spPr>
          <a:xfrm>
            <a:off x="8787384" y="3017520"/>
            <a:ext cx="512064" cy="512064"/>
          </a:xfrm>
          <a:prstGeom prst="roundRect">
            <a:avLst>
              <a:gd name="adj" fmla="val 12500"/>
            </a:avLst>
          </a:prstGeom>
          <a:solidFill>
            <a:srgbClr val="2E6580"/>
          </a:solidFill>
          <a:ln/>
        </p:spPr>
      </p:sp>
      <p:pic>
        <p:nvPicPr>
          <p:cNvPr id="24" name="Image 4" descr="/tmp/claude-1000/-home-anurag-r-work-agentbrick-works-restock-agent/2dd0bea3-cfe1-43a1-8644-31ec55874190/scratchpad/deck/assets/usercheck.png">    </p:cNvPr>
          <p:cNvPicPr>
            <a:picLocks noChangeAspect="1"/>
          </p:cNvPicPr>
          <p:nvPr/>
        </p:nvPicPr>
        <p:blipFill>
          <a:blip r:embed="rId5"/>
          <a:stretch>
            <a:fillRect/>
          </a:stretch>
        </p:blipFill>
        <p:spPr>
          <a:xfrm>
            <a:off x="8910279" y="3140415"/>
            <a:ext cx="266273" cy="266273"/>
          </a:xfrm>
          <a:prstGeom prst="rect">
            <a:avLst/>
          </a:prstGeom>
        </p:spPr>
      </p:pic>
      <p:sp>
        <p:nvSpPr>
          <p:cNvPr id="25" name="Text 18"/>
          <p:cNvSpPr/>
          <p:nvPr/>
        </p:nvSpPr>
        <p:spPr>
          <a:xfrm>
            <a:off x="8302752" y="3639312"/>
            <a:ext cx="1481328" cy="237744"/>
          </a:xfrm>
          <a:prstGeom prst="rect">
            <a:avLst/>
          </a:prstGeom>
          <a:noFill/>
          <a:ln/>
        </p:spPr>
        <p:txBody>
          <a:bodyPr wrap="square" lIns="0" tIns="0" rIns="0" bIns="0" rtlCol="0" anchor="t"/>
          <a:lstStyle/>
          <a:p>
            <a:pPr algn="ctr" indent="0" marL="0">
              <a:buNone/>
            </a:pPr>
            <a:r>
              <a:rPr lang="en-US" sz="950" dirty="0">
                <a:solidFill>
                  <a:srgbClr val="52585B"/>
                </a:solidFill>
                <a:latin typeface="Courier New" pitchFamily="34" charset="0"/>
                <a:ea typeface="Courier New" pitchFamily="34" charset="-122"/>
                <a:cs typeface="Courier New" pitchFamily="34" charset="-120"/>
              </a:rPr>
              <a:t>05</a:t>
            </a:r>
            <a:endParaRPr lang="en-US" sz="950" dirty="0"/>
          </a:p>
        </p:txBody>
      </p:sp>
      <p:sp>
        <p:nvSpPr>
          <p:cNvPr id="26" name="Text 19"/>
          <p:cNvSpPr/>
          <p:nvPr/>
        </p:nvSpPr>
        <p:spPr>
          <a:xfrm>
            <a:off x="8193024" y="3913632"/>
            <a:ext cx="1700784" cy="731520"/>
          </a:xfrm>
          <a:prstGeom prst="rect">
            <a:avLst/>
          </a:prstGeom>
          <a:noFill/>
          <a:ln/>
        </p:spPr>
        <p:txBody>
          <a:bodyPr wrap="square" lIns="0" tIns="0" rIns="0" bIns="0" rtlCol="0" anchor="t"/>
          <a:lstStyle/>
          <a:p>
            <a:pPr algn="ctr" indent="0" marL="0">
              <a:lnSpc>
                <a:spcPct val="115000"/>
              </a:lnSpc>
              <a:buNone/>
            </a:pPr>
            <a:r>
              <a:rPr lang="en-US" sz="1150" b="1" dirty="0">
                <a:solidFill>
                  <a:srgbClr val="1B1E20"/>
                </a:solidFill>
                <a:latin typeface="Calibri" pitchFamily="34" charset="0"/>
                <a:ea typeface="Calibri" pitchFamily="34" charset="-122"/>
                <a:cs typeface="Calibri" pitchFamily="34" charset="-120"/>
              </a:rPr>
              <a:t>You approve or reject</a:t>
            </a:r>
            <a:endParaRPr lang="en-US" sz="1150" dirty="0"/>
          </a:p>
        </p:txBody>
      </p:sp>
      <p:sp>
        <p:nvSpPr>
          <p:cNvPr id="27" name="Text 20"/>
          <p:cNvSpPr/>
          <p:nvPr/>
        </p:nvSpPr>
        <p:spPr>
          <a:xfrm>
            <a:off x="9784080" y="3108960"/>
            <a:ext cx="457200" cy="365760"/>
          </a:xfrm>
          <a:prstGeom prst="rect">
            <a:avLst/>
          </a:prstGeom>
          <a:noFill/>
          <a:ln/>
        </p:spPr>
        <p:txBody>
          <a:bodyPr wrap="square" lIns="0" tIns="0" rIns="0" bIns="0" rtlCol="0" anchor="ctr"/>
          <a:lstStyle/>
          <a:p>
            <a:pPr algn="ctr" indent="0" marL="0">
              <a:buNone/>
            </a:pPr>
            <a:r>
              <a:rPr lang="en-US" sz="1800" b="1" dirty="0">
                <a:solidFill>
                  <a:srgbClr val="D8DBD6"/>
                </a:solidFill>
                <a:latin typeface="Arial" pitchFamily="34" charset="0"/>
                <a:ea typeface="Arial" pitchFamily="34" charset="-122"/>
                <a:cs typeface="Arial" pitchFamily="34" charset="-120"/>
              </a:rPr>
              <a:t>→</a:t>
            </a:r>
            <a:endParaRPr lang="en-US" sz="1800" dirty="0"/>
          </a:p>
        </p:txBody>
      </p:sp>
      <p:sp>
        <p:nvSpPr>
          <p:cNvPr id="28" name="Shape 21"/>
          <p:cNvSpPr/>
          <p:nvPr/>
        </p:nvSpPr>
        <p:spPr>
          <a:xfrm>
            <a:off x="10725912" y="3017520"/>
            <a:ext cx="512064" cy="512064"/>
          </a:xfrm>
          <a:prstGeom prst="roundRect">
            <a:avLst>
              <a:gd name="adj" fmla="val 12500"/>
            </a:avLst>
          </a:prstGeom>
          <a:solidFill>
            <a:srgbClr val="B85C24"/>
          </a:solidFill>
          <a:ln/>
        </p:spPr>
      </p:sp>
      <p:pic>
        <p:nvPicPr>
          <p:cNvPr id="29" name="Image 5" descr="/tmp/claude-1000/-home-anurag-r-work-agentbrick-works-restock-agent/2dd0bea3-cfe1-43a1-8644-31ec55874190/scratchpad/deck/assets/truck.png">    </p:cNvPr>
          <p:cNvPicPr>
            <a:picLocks noChangeAspect="1"/>
          </p:cNvPicPr>
          <p:nvPr/>
        </p:nvPicPr>
        <p:blipFill>
          <a:blip r:embed="rId6"/>
          <a:stretch>
            <a:fillRect/>
          </a:stretch>
        </p:blipFill>
        <p:spPr>
          <a:xfrm>
            <a:off x="10848807" y="3140415"/>
            <a:ext cx="266273" cy="266273"/>
          </a:xfrm>
          <a:prstGeom prst="rect">
            <a:avLst/>
          </a:prstGeom>
        </p:spPr>
      </p:pic>
      <p:sp>
        <p:nvSpPr>
          <p:cNvPr id="30" name="Text 22"/>
          <p:cNvSpPr/>
          <p:nvPr/>
        </p:nvSpPr>
        <p:spPr>
          <a:xfrm>
            <a:off x="10241280" y="3639312"/>
            <a:ext cx="1481328" cy="237744"/>
          </a:xfrm>
          <a:prstGeom prst="rect">
            <a:avLst/>
          </a:prstGeom>
          <a:noFill/>
          <a:ln/>
        </p:spPr>
        <p:txBody>
          <a:bodyPr wrap="square" lIns="0" tIns="0" rIns="0" bIns="0" rtlCol="0" anchor="t"/>
          <a:lstStyle/>
          <a:p>
            <a:pPr algn="ctr" indent="0" marL="0">
              <a:buNone/>
            </a:pPr>
            <a:r>
              <a:rPr lang="en-US" sz="950" dirty="0">
                <a:solidFill>
                  <a:srgbClr val="52585B"/>
                </a:solidFill>
                <a:latin typeface="Courier New" pitchFamily="34" charset="0"/>
                <a:ea typeface="Courier New" pitchFamily="34" charset="-122"/>
                <a:cs typeface="Courier New" pitchFamily="34" charset="-120"/>
              </a:rPr>
              <a:t>06</a:t>
            </a:r>
            <a:endParaRPr lang="en-US" sz="950" dirty="0"/>
          </a:p>
        </p:txBody>
      </p:sp>
      <p:sp>
        <p:nvSpPr>
          <p:cNvPr id="31" name="Text 23"/>
          <p:cNvSpPr/>
          <p:nvPr/>
        </p:nvSpPr>
        <p:spPr>
          <a:xfrm>
            <a:off x="10131552" y="3913632"/>
            <a:ext cx="1700784" cy="731520"/>
          </a:xfrm>
          <a:prstGeom prst="rect">
            <a:avLst/>
          </a:prstGeom>
          <a:noFill/>
          <a:ln/>
        </p:spPr>
        <p:txBody>
          <a:bodyPr wrap="square" lIns="0" tIns="0" rIns="0" bIns="0" rtlCol="0" anchor="t"/>
          <a:lstStyle/>
          <a:p>
            <a:pPr algn="ctr" indent="0" marL="0">
              <a:lnSpc>
                <a:spcPct val="115000"/>
              </a:lnSpc>
              <a:buNone/>
            </a:pPr>
            <a:r>
              <a:rPr lang="en-US" sz="1150" b="1" dirty="0">
                <a:solidFill>
                  <a:srgbClr val="1B1E20"/>
                </a:solidFill>
                <a:latin typeface="Calibri" pitchFamily="34" charset="0"/>
                <a:ea typeface="Calibri" pitchFamily="34" charset="-122"/>
                <a:cs typeface="Calibri" pitchFamily="34" charset="-120"/>
              </a:rPr>
              <a:t>Transfer or order placed</a:t>
            </a:r>
            <a:endParaRPr lang="en-US" sz="1150" dirty="0"/>
          </a:p>
        </p:txBody>
      </p:sp>
      <p:sp>
        <p:nvSpPr>
          <p:cNvPr id="32" name="Text 24"/>
          <p:cNvSpPr/>
          <p:nvPr/>
        </p:nvSpPr>
        <p:spPr>
          <a:xfrm>
            <a:off x="548640" y="5029200"/>
            <a:ext cx="10515600" cy="365760"/>
          </a:xfrm>
          <a:prstGeom prst="rect">
            <a:avLst/>
          </a:prstGeom>
          <a:noFill/>
          <a:ln/>
        </p:spPr>
        <p:txBody>
          <a:bodyPr wrap="square" lIns="0" tIns="0" rIns="0" bIns="0" rtlCol="0" anchor="t"/>
          <a:lstStyle/>
          <a:p>
            <a:pPr indent="0" marL="0">
              <a:buNone/>
            </a:pPr>
            <a:r>
              <a:rPr lang="en-US" sz="1300" i="1" dirty="0">
                <a:solidFill>
                  <a:srgbClr val="52585B"/>
                </a:solidFill>
                <a:latin typeface="Calibri" pitchFamily="34" charset="0"/>
                <a:ea typeface="Calibri" pitchFamily="34" charset="-122"/>
                <a:cs typeface="Calibri" pitchFamily="34" charset="-120"/>
              </a:rPr>
              <a:t>One notification per cycle, whatever the board is carrying.</a:t>
            </a:r>
            <a:endParaRPr lang="en-US" sz="1300" dirty="0"/>
          </a:p>
        </p:txBody>
      </p:sp>
      <p:sp>
        <p:nvSpPr>
          <p:cNvPr id="33" name="Text 25"/>
          <p:cNvSpPr/>
          <p:nvPr/>
        </p:nvSpPr>
        <p:spPr>
          <a:xfrm>
            <a:off x="548640" y="6473952"/>
            <a:ext cx="7315200" cy="274320"/>
          </a:xfrm>
          <a:prstGeom prst="rect">
            <a:avLst/>
          </a:prstGeom>
          <a:noFill/>
          <a:ln/>
        </p:spPr>
        <p:txBody>
          <a:bodyPr wrap="square" lIns="0" tIns="0" rIns="0" bIns="0" rtlCol="0" anchor="ctr"/>
          <a:lstStyle/>
          <a:p>
            <a:pPr indent="0" marL="0">
              <a:buNone/>
            </a:pPr>
            <a:r>
              <a:rPr lang="en-US" sz="850" b="1" spc="100" kern="0" dirty="0">
                <a:solidFill>
                  <a:srgbClr val="52585B"/>
                </a:solidFill>
                <a:latin typeface="Calibri" pitchFamily="34" charset="0"/>
                <a:ea typeface="Calibri" pitchFamily="34" charset="-122"/>
                <a:cs typeface="Calibri" pitchFamily="34" charset="-120"/>
              </a:rPr>
              <a:t>MANUFACTURING INVENTORY INTELLIGENCE</a:t>
            </a:r>
            <a:endParaRPr lang="en-US" sz="850" dirty="0"/>
          </a:p>
        </p:txBody>
      </p:sp>
      <p:sp>
        <p:nvSpPr>
          <p:cNvPr id="34" name="Text 26"/>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52585B"/>
                </a:solidFill>
                <a:latin typeface="Courier New" pitchFamily="34" charset="0"/>
                <a:ea typeface="Courier New" pitchFamily="34" charset="-122"/>
                <a:cs typeface="Courier New" pitchFamily="34" charset="-120"/>
              </a:rPr>
              <a:t>09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E20"/>
        </a:solidFill>
      </p:bgPr>
    </p:bg>
    <p:spTree>
      <p:nvGrpSpPr>
        <p:cNvPr id="1" name=""/>
        <p:cNvGrpSpPr/>
        <p:nvPr/>
      </p:nvGrpSpPr>
      <p:grpSpPr>
        <a:xfrm>
          <a:off x="0" y="0"/>
          <a:ext cx="0" cy="0"/>
          <a:chOff x="0" y="0"/>
          <a:chExt cx="0" cy="0"/>
        </a:xfrm>
      </p:grpSpPr>
      <p:sp>
        <p:nvSpPr>
          <p:cNvPr id="2" name="Shape 0"/>
          <p:cNvSpPr/>
          <p:nvPr/>
        </p:nvSpPr>
        <p:spPr>
          <a:xfrm>
            <a:off x="548640" y="548640"/>
            <a:ext cx="502920" cy="502920"/>
          </a:xfrm>
          <a:prstGeom prst="roundRect">
            <a:avLst>
              <a:gd name="adj" fmla="val 12727"/>
            </a:avLst>
          </a:prstGeom>
          <a:solidFill>
            <a:srgbClr val="2E6580"/>
          </a:solidFill>
          <a:ln/>
        </p:spPr>
      </p:sp>
      <p:pic>
        <p:nvPicPr>
          <p:cNvPr id="3" name="Image 0" descr="/tmp/claude-1000/-home-anurag-r-work-agentbrick-works-restock-agent/2dd0bea3-cfe1-43a1-8644-31ec55874190/scratchpad/deck/assets/industry.png">    </p:cNvPr>
          <p:cNvPicPr>
            <a:picLocks noChangeAspect="1"/>
          </p:cNvPicPr>
          <p:nvPr/>
        </p:nvPicPr>
        <p:blipFill>
          <a:blip r:embed="rId1"/>
          <a:stretch>
            <a:fillRect/>
          </a:stretch>
        </p:blipFill>
        <p:spPr>
          <a:xfrm>
            <a:off x="669341" y="669341"/>
            <a:ext cx="261518" cy="261518"/>
          </a:xfrm>
          <a:prstGeom prst="rect">
            <a:avLst/>
          </a:prstGeom>
        </p:spPr>
      </p:pic>
      <p:sp>
        <p:nvSpPr>
          <p:cNvPr id="4" name="Text 1"/>
          <p:cNvSpPr/>
          <p:nvPr/>
        </p:nvSpPr>
        <p:spPr>
          <a:xfrm>
            <a:off x="548640" y="1417320"/>
            <a:ext cx="10058400" cy="1828800"/>
          </a:xfrm>
          <a:prstGeom prst="rect">
            <a:avLst/>
          </a:prstGeom>
          <a:noFill/>
          <a:ln/>
        </p:spPr>
        <p:txBody>
          <a:bodyPr wrap="square" lIns="0" tIns="0" rIns="0" bIns="0" rtlCol="0" anchor="t"/>
          <a:lstStyle/>
          <a:p>
            <a:pPr indent="0" marL="0">
              <a:lnSpc>
                <a:spcPct val="102000"/>
              </a:lnSpc>
              <a:buNone/>
            </a:pPr>
            <a:r>
              <a:rPr lang="en-US" sz="4200" b="1" dirty="0">
                <a:solidFill>
                  <a:srgbClr val="FFFFFF"/>
                </a:solidFill>
                <a:latin typeface="Arial" pitchFamily="34" charset="0"/>
                <a:ea typeface="Arial" pitchFamily="34" charset="-122"/>
                <a:cs typeface="Arial" pitchFamily="34" charset="-120"/>
              </a:rPr>
              <a:t>Two actions.</a:t>
            </a:r>
            <a:endParaRPr lang="en-US" sz="4200" dirty="0"/>
          </a:p>
          <a:p>
            <a:pPr indent="0" marL="0">
              <a:lnSpc>
                <a:spcPct val="102000"/>
              </a:lnSpc>
              <a:buNone/>
            </a:pPr>
            <a:r>
              <a:rPr lang="en-US" sz="4200" b="1" dirty="0">
                <a:solidFill>
                  <a:srgbClr val="FFFFFF"/>
                </a:solidFill>
                <a:latin typeface="Arial" pitchFamily="34" charset="0"/>
                <a:ea typeface="Arial" pitchFamily="34" charset="-122"/>
                <a:cs typeface="Arial" pitchFamily="34" charset="-120"/>
              </a:rPr>
              <a:t>Seven nuances behind each one.</a:t>
            </a:r>
            <a:endParaRPr lang="en-US" sz="4200" dirty="0"/>
          </a:p>
        </p:txBody>
      </p:sp>
      <p:sp>
        <p:nvSpPr>
          <p:cNvPr id="5" name="Shape 2"/>
          <p:cNvSpPr/>
          <p:nvPr/>
        </p:nvSpPr>
        <p:spPr>
          <a:xfrm>
            <a:off x="548640" y="3566160"/>
            <a:ext cx="5120640" cy="868680"/>
          </a:xfrm>
          <a:prstGeom prst="rect">
            <a:avLst/>
          </a:prstGeom>
          <a:ln w="12700">
            <a:solidFill>
              <a:srgbClr val="3A3F42"/>
            </a:solidFill>
            <a:prstDash val="solid"/>
          </a:ln>
        </p:spPr>
      </p:sp>
      <p:sp>
        <p:nvSpPr>
          <p:cNvPr id="6" name="Text 3"/>
          <p:cNvSpPr/>
          <p:nvPr/>
        </p:nvSpPr>
        <p:spPr>
          <a:xfrm>
            <a:off x="777240" y="3694176"/>
            <a:ext cx="4663440" cy="256032"/>
          </a:xfrm>
          <a:prstGeom prst="rect">
            <a:avLst/>
          </a:prstGeom>
          <a:noFill/>
          <a:ln/>
        </p:spPr>
        <p:txBody>
          <a:bodyPr wrap="square" lIns="0" tIns="0" rIns="0" bIns="0" rtlCol="0" anchor="t"/>
          <a:lstStyle/>
          <a:p>
            <a:pPr indent="0" marL="0">
              <a:buNone/>
            </a:pPr>
            <a:r>
              <a:rPr lang="en-US" sz="950" dirty="0">
                <a:solidFill>
                  <a:srgbClr val="A7ADA9"/>
                </a:solidFill>
                <a:latin typeface="Courier New" pitchFamily="34" charset="0"/>
                <a:ea typeface="Courier New" pitchFamily="34" charset="-122"/>
                <a:cs typeface="Courier New" pitchFamily="34" charset="-120"/>
              </a:rPr>
              <a:t>ACTIONS</a:t>
            </a:r>
            <a:endParaRPr lang="en-US" sz="950" dirty="0"/>
          </a:p>
        </p:txBody>
      </p:sp>
      <p:sp>
        <p:nvSpPr>
          <p:cNvPr id="7" name="Text 4"/>
          <p:cNvSpPr/>
          <p:nvPr/>
        </p:nvSpPr>
        <p:spPr>
          <a:xfrm>
            <a:off x="777240" y="3977640"/>
            <a:ext cx="4663440"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Transfer, Buy</a:t>
            </a:r>
            <a:endParaRPr lang="en-US" sz="1450" dirty="0"/>
          </a:p>
        </p:txBody>
      </p:sp>
      <p:sp>
        <p:nvSpPr>
          <p:cNvPr id="8" name="Shape 5"/>
          <p:cNvSpPr/>
          <p:nvPr/>
        </p:nvSpPr>
        <p:spPr>
          <a:xfrm>
            <a:off x="5943600" y="3566160"/>
            <a:ext cx="5120640" cy="868680"/>
          </a:xfrm>
          <a:prstGeom prst="rect">
            <a:avLst/>
          </a:prstGeom>
          <a:ln w="12700">
            <a:solidFill>
              <a:srgbClr val="3A3F42"/>
            </a:solidFill>
            <a:prstDash val="solid"/>
          </a:ln>
        </p:spPr>
      </p:sp>
      <p:sp>
        <p:nvSpPr>
          <p:cNvPr id="9" name="Text 6"/>
          <p:cNvSpPr/>
          <p:nvPr/>
        </p:nvSpPr>
        <p:spPr>
          <a:xfrm>
            <a:off x="6172200" y="3694176"/>
            <a:ext cx="4663440" cy="256032"/>
          </a:xfrm>
          <a:prstGeom prst="rect">
            <a:avLst/>
          </a:prstGeom>
          <a:noFill/>
          <a:ln/>
        </p:spPr>
        <p:txBody>
          <a:bodyPr wrap="square" lIns="0" tIns="0" rIns="0" bIns="0" rtlCol="0" anchor="t"/>
          <a:lstStyle/>
          <a:p>
            <a:pPr indent="0" marL="0">
              <a:buNone/>
            </a:pPr>
            <a:r>
              <a:rPr lang="en-US" sz="950" dirty="0">
                <a:solidFill>
                  <a:srgbClr val="A7ADA9"/>
                </a:solidFill>
                <a:latin typeface="Courier New" pitchFamily="34" charset="0"/>
                <a:ea typeface="Courier New" pitchFamily="34" charset="-122"/>
                <a:cs typeface="Courier New" pitchFamily="34" charset="-120"/>
              </a:rPr>
              <a:t>NUANCES</a:t>
            </a:r>
            <a:endParaRPr lang="en-US" sz="950" dirty="0"/>
          </a:p>
        </p:txBody>
      </p:sp>
      <p:sp>
        <p:nvSpPr>
          <p:cNvPr id="10" name="Text 7"/>
          <p:cNvSpPr/>
          <p:nvPr/>
        </p:nvSpPr>
        <p:spPr>
          <a:xfrm>
            <a:off x="6172200" y="3977640"/>
            <a:ext cx="4663440"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Seven, plus repeat-alert suppression</a:t>
            </a:r>
            <a:endParaRPr lang="en-US" sz="1450" dirty="0"/>
          </a:p>
        </p:txBody>
      </p:sp>
      <p:sp>
        <p:nvSpPr>
          <p:cNvPr id="11" name="Shape 8"/>
          <p:cNvSpPr/>
          <p:nvPr/>
        </p:nvSpPr>
        <p:spPr>
          <a:xfrm>
            <a:off x="548640" y="4709160"/>
            <a:ext cx="5120640" cy="868680"/>
          </a:xfrm>
          <a:prstGeom prst="rect">
            <a:avLst/>
          </a:prstGeom>
          <a:ln w="12700">
            <a:solidFill>
              <a:srgbClr val="3A3F42"/>
            </a:solidFill>
            <a:prstDash val="solid"/>
          </a:ln>
        </p:spPr>
      </p:sp>
      <p:sp>
        <p:nvSpPr>
          <p:cNvPr id="12" name="Text 9"/>
          <p:cNvSpPr/>
          <p:nvPr/>
        </p:nvSpPr>
        <p:spPr>
          <a:xfrm>
            <a:off x="777240" y="4837176"/>
            <a:ext cx="4663440" cy="256032"/>
          </a:xfrm>
          <a:prstGeom prst="rect">
            <a:avLst/>
          </a:prstGeom>
          <a:noFill/>
          <a:ln/>
        </p:spPr>
        <p:txBody>
          <a:bodyPr wrap="square" lIns="0" tIns="0" rIns="0" bIns="0" rtlCol="0" anchor="t"/>
          <a:lstStyle/>
          <a:p>
            <a:pPr indent="0" marL="0">
              <a:buNone/>
            </a:pPr>
            <a:r>
              <a:rPr lang="en-US" sz="950" dirty="0">
                <a:solidFill>
                  <a:srgbClr val="A7ADA9"/>
                </a:solidFill>
                <a:latin typeface="Courier New" pitchFamily="34" charset="0"/>
                <a:ea typeface="Courier New" pitchFamily="34" charset="-122"/>
                <a:cs typeface="Courier New" pitchFamily="34" charset="-120"/>
              </a:rPr>
              <a:t>RUNS ON</a:t>
            </a:r>
            <a:endParaRPr lang="en-US" sz="950" dirty="0"/>
          </a:p>
        </p:txBody>
      </p:sp>
      <p:sp>
        <p:nvSpPr>
          <p:cNvPr id="13" name="Text 10"/>
          <p:cNvSpPr/>
          <p:nvPr/>
        </p:nvSpPr>
        <p:spPr>
          <a:xfrm>
            <a:off x="777240" y="5120640"/>
            <a:ext cx="4663440"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Your Databricks lakehouse</a:t>
            </a:r>
            <a:endParaRPr lang="en-US" sz="1450" dirty="0"/>
          </a:p>
        </p:txBody>
      </p:sp>
      <p:sp>
        <p:nvSpPr>
          <p:cNvPr id="14" name="Shape 11"/>
          <p:cNvSpPr/>
          <p:nvPr/>
        </p:nvSpPr>
        <p:spPr>
          <a:xfrm>
            <a:off x="5943600" y="4709160"/>
            <a:ext cx="5120640" cy="868680"/>
          </a:xfrm>
          <a:prstGeom prst="rect">
            <a:avLst/>
          </a:prstGeom>
          <a:ln w="12700">
            <a:solidFill>
              <a:srgbClr val="3A3F42"/>
            </a:solidFill>
            <a:prstDash val="solid"/>
          </a:ln>
        </p:spPr>
      </p:sp>
      <p:sp>
        <p:nvSpPr>
          <p:cNvPr id="15" name="Text 12"/>
          <p:cNvSpPr/>
          <p:nvPr/>
        </p:nvSpPr>
        <p:spPr>
          <a:xfrm>
            <a:off x="6172200" y="4837176"/>
            <a:ext cx="4663440" cy="256032"/>
          </a:xfrm>
          <a:prstGeom prst="rect">
            <a:avLst/>
          </a:prstGeom>
          <a:noFill/>
          <a:ln/>
        </p:spPr>
        <p:txBody>
          <a:bodyPr wrap="square" lIns="0" tIns="0" rIns="0" bIns="0" rtlCol="0" anchor="t"/>
          <a:lstStyle/>
          <a:p>
            <a:pPr indent="0" marL="0">
              <a:buNone/>
            </a:pPr>
            <a:r>
              <a:rPr lang="en-US" sz="950" dirty="0">
                <a:solidFill>
                  <a:srgbClr val="A7ADA9"/>
                </a:solidFill>
                <a:latin typeface="Courier New" pitchFamily="34" charset="0"/>
                <a:ea typeface="Courier New" pitchFamily="34" charset="-122"/>
                <a:cs typeface="Courier New" pitchFamily="34" charset="-120"/>
              </a:rPr>
              <a:t>NOTIFICATION</a:t>
            </a:r>
            <a:endParaRPr lang="en-US" sz="950" dirty="0"/>
          </a:p>
        </p:txBody>
      </p:sp>
      <p:sp>
        <p:nvSpPr>
          <p:cNvPr id="16" name="Text 13"/>
          <p:cNvSpPr/>
          <p:nvPr/>
        </p:nvSpPr>
        <p:spPr>
          <a:xfrm>
            <a:off x="6172200" y="5120640"/>
            <a:ext cx="4663440"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One bundled Teams card per cycle</a:t>
            </a:r>
            <a:endParaRPr lang="en-US" sz="1450" dirty="0"/>
          </a:p>
        </p:txBody>
      </p:sp>
      <p:sp>
        <p:nvSpPr>
          <p:cNvPr id="17" name="Text 14"/>
          <p:cNvSpPr/>
          <p:nvPr/>
        </p:nvSpPr>
        <p:spPr>
          <a:xfrm>
            <a:off x="548640" y="5897880"/>
            <a:ext cx="8229600" cy="365760"/>
          </a:xfrm>
          <a:prstGeom prst="rect">
            <a:avLst/>
          </a:prstGeom>
          <a:noFill/>
          <a:ln/>
        </p:spPr>
        <p:txBody>
          <a:bodyPr wrap="square" lIns="0" tIns="0" rIns="0" bIns="0" rtlCol="0" anchor="t"/>
          <a:lstStyle/>
          <a:p>
            <a:pPr indent="0" marL="0">
              <a:buNone/>
            </a:pPr>
            <a:r>
              <a:rPr lang="en-US" sz="1300" i="1" dirty="0">
                <a:solidFill>
                  <a:srgbClr val="A7ADA9"/>
                </a:solidFill>
                <a:latin typeface="Calibri" pitchFamily="34" charset="0"/>
                <a:ea typeface="Calibri" pitchFamily="34" charset="-122"/>
                <a:cs typeface="Calibri" pitchFamily="34" charset="-120"/>
              </a:rPr>
              <a:t>Real actions. Grounded reasoning. Nothing invented.</a:t>
            </a:r>
            <a:endParaRPr lang="en-US" sz="1300" dirty="0"/>
          </a:p>
        </p:txBody>
      </p:sp>
      <p:sp>
        <p:nvSpPr>
          <p:cNvPr id="18" name="Text 15"/>
          <p:cNvSpPr/>
          <p:nvPr/>
        </p:nvSpPr>
        <p:spPr>
          <a:xfrm>
            <a:off x="548640" y="6473952"/>
            <a:ext cx="7315200" cy="274320"/>
          </a:xfrm>
          <a:prstGeom prst="rect">
            <a:avLst/>
          </a:prstGeom>
          <a:noFill/>
          <a:ln/>
        </p:spPr>
        <p:txBody>
          <a:bodyPr wrap="square" lIns="0" tIns="0" rIns="0" bIns="0" rtlCol="0" anchor="ctr"/>
          <a:lstStyle/>
          <a:p>
            <a:pPr indent="0" marL="0">
              <a:buNone/>
            </a:pPr>
            <a:r>
              <a:rPr lang="en-US" sz="850" b="1" spc="100" kern="0" dirty="0">
                <a:solidFill>
                  <a:srgbClr val="A7ADA9"/>
                </a:solidFill>
                <a:latin typeface="Calibri" pitchFamily="34" charset="0"/>
                <a:ea typeface="Calibri" pitchFamily="34" charset="-122"/>
                <a:cs typeface="Calibri" pitchFamily="34" charset="-120"/>
              </a:rPr>
              <a:t>MANUFACTURING INVENTORY INTELLIGENCE</a:t>
            </a:r>
            <a:endParaRPr lang="en-US" sz="850" dirty="0"/>
          </a:p>
        </p:txBody>
      </p:sp>
      <p:sp>
        <p:nvSpPr>
          <p:cNvPr id="19" name="Text 16"/>
          <p:cNvSpPr/>
          <p:nvPr/>
        </p:nvSpPr>
        <p:spPr>
          <a:xfrm>
            <a:off x="9814255" y="6473952"/>
            <a:ext cx="1828800" cy="274320"/>
          </a:xfrm>
          <a:prstGeom prst="rect">
            <a:avLst/>
          </a:prstGeom>
          <a:noFill/>
          <a:ln/>
        </p:spPr>
        <p:txBody>
          <a:bodyPr wrap="square" lIns="0" tIns="0" rIns="0" bIns="0" rtlCol="0" anchor="ctr"/>
          <a:lstStyle/>
          <a:p>
            <a:pPr algn="r" indent="0" marL="0">
              <a:buNone/>
            </a:pPr>
            <a:r>
              <a:rPr lang="en-US" sz="900" dirty="0">
                <a:solidFill>
                  <a:srgbClr val="A7ADA9"/>
                </a:solidFill>
                <a:latin typeface="Courier New" pitchFamily="34" charset="0"/>
                <a:ea typeface="Courier New" pitchFamily="34" charset="-122"/>
                <a:cs typeface="Courier New"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2026-09-03T11:02:20Z</dcterms:created>
  <dcterms:modified xsi:type="dcterms:W3CDTF">2026-09-03T11:02:20Z</dcterms:modified>
</cp:coreProperties>
</file>